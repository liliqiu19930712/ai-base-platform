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664" r:id="rId6"/>
    <p:sldMasterId id="2147483665" r:id="rId7"/>
  </p:sldMasterIdLst>
  <p:notesMasterIdLst>
    <p:notesMasterId r:id="rId8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slide" Target="slides/slide69.xml"/><Relationship Id="rId84" Type="http://schemas.openxmlformats.org/officeDocument/2006/relationships/slide" Target="slides/slide77.xml"/><Relationship Id="rId89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87" Type="http://schemas.openxmlformats.org/officeDocument/2006/relationships/slide" Target="slides/slide80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90" Type="http://schemas.openxmlformats.org/officeDocument/2006/relationships/presProps" Target="pres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各位老师、同学大家好，今天是2026-2027学年第一次团队例会。本学期我们围绕六个板块统一对齐。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今天的内容分为六个部分：团队整体规划、项目规划、机构规划、学术规划、智能体研发规划和执行规划。其中智能体研发是本学期的主体内容。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接下来，我们进入第二部分：法理重构。我们将深入探讨，为什么传统的产权理论在数据时代会显得力不从心，以及我们需要一种怎样全新的法理基础。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2026-2027学年，团队以数据要素与智能体研发为主线，围绕六个板块协同推进。本学期核心目标是把五大研究方向的论纲系列做深，同时把十大类智能体按计划落地。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接下来进入第二部分：团队项目规划，介绍纵向课题、横向课题和项目结题三条线的分工与当前任务。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项目分三条线：纵向课题由何梦婷领头，横向课题由王福新领头，项目结题由程凡领头。任何同学都可以加入项目执行，记录好绩效即可。任何人都可以牵头申请横向课题。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纵向项目由何梦婷牵头。核心是采集和遴选：采集要扩展渠道和范围，从图情拓展到法学、计算机交叉；遴选要评估适配度和竞争力，集体决策。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横向项目由王福新牵头，这是本学期重点扩展方向。每个人都可以牵头申请横向课题，老师牵线对接。主要面向数据局、数据交易所和行业企业，做数据治理咨询和智能体定制开发。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结题项目由程凡牵头，核心任务是把在研项目按期高质量结项。本学期重点是11个联合课题的结项材料整理。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接下来，我们进入第二部分：法理重构。我们将深入探讨，为什么传统的产权理论在数据时代会显得力不从心，以及我们需要一种怎样全新的法理基础。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数据要素创新研究院由王福新领头，聚焦数据要素流通和价值化，对接数据交易所，建设智库报告品牌。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数字生态与治理研究中心由何梦婷领头、李新来联合负责，发布数字生态白皮书和指数，服务治理决策。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数据局联合创新中心由程凡领头，承接省数据局课题，产出智库报告，连接学术研究与政府决策。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产业智能实验室由陈奥运领头，是智能体工程化落地的平台，面向企业交付定制智能体，五年目标是全球企业智能体。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接下来，我们进入第二部分：法理重构。我们将深入探讨，为什么传统的产权理论在数据时代会显得力不从心，以及我们需要一种怎样全新的法理基础。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五大研究方向从科学方式定位：从主权层到产业应用层递进展开，每个方向产出论纲、指数、知识库、智能体、平台五位一体成果。方向布局每学期动态评估充实。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接下来，我们进入第二部分：法理重构。我们将深入探讨，为什么传统的产权理论在数据时代会显得力不从心，以及我们需要一种怎样全新的法理基础。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这是智能体建设的总体概况和原则，对新人友好。四大建设原则：需求牵引、分类建设、团队协同、持续迭代。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十大类智能体矩阵。原核心团队80个+课程团队100个=180个，拆分10个独立领域。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P5：白底四层架构金字塔，应用层浅蓝、能力层/数据层浅灰、基础设施层深蓝。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P6：白底，上半4张理论依据浅灰卡，下半5张职责边界白卡蓝边，底部蓝色边界声明。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P8：白底，两召集浅蓝卡，7成员小卡一行，底部示范先行浅灰说明条。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P7：白底，三核心负责浅蓝卡，10个顾问小卡2行，底部深蓝培养目标条。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P9：白底，三月阶段3张卡（第三月深蓝），下方4个驱动因素白卡蓝边。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P10：白底，科创16个KG 4×4卡片矩阵，浅灰卡+蓝编号+负责人。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页为科创智能体的架构分工图。左侧基座平台由李立秋统一负责，提供六大公共能力；右侧科创子平台按五条业务线组织16个智能体。强调基座与子平台解耦，子平台只做领域知识和业务场景，不重复建设通用技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科创v3UI：服务超市大卡片展开，新闻课程带图。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科创智能体移动端App原型。展示手机端界面：推荐服务、智能体快捷入口、我的任务、底部导航。说明Web端与移动端同步策略。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P11：白底，文化8个WH 4×2卡片，WH08浅蓝高亮。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页为文化智能体架构分工图。左侧基座统一提供六大公共能力，右侧文化子平台按古籍史料、地方人文、家谱谱系、阅读推广、学者知识五条线组织8个智能体，重点对接二十四史、地方志、数字家谱等文化语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文化v3UI：服务超市展开，新闻课程带图。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单个智能体工作台示例：数据主权论证助手。展示任务分解、正在撰写的论证章节、知识库状态和质量检查，体现每个智能体产出严肃学术成果。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单个智能体工作台：二十四史智能体·世家考证。展示典籍语料库、正在生成的考证札记、人物关系图谱和标注进度。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单个智能体工作台：专利新颖性检索员。展示检索策略演进、权利要求对比分析、专利数据库连接状态和产出报告清单。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各位好，我是云科铭典团队。今天向大家介绍我们的数智家谱项目。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一句话概括：我们要做的是能考据、会叙事、可对话的家族数字生命体。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它不是一本被动的谱，而是让家族记忆活起来、能和后代对话的数字载体。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这份路演会从市场机会讲到产品定位、功能与商业模式，最后给出我们的落地节奏。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先看市场。中国有约 2.7 亿个家庭，每一个家庭背后都有一段值得被记录的家族史。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左侧是我们测算的市场空间漏斗：TAM 2.7亿家庭，可数字化的 SAM 约 5000 万户，首年目标渗透约 1200 万户。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宗族文化复兴、AI 与大模型技术成熟、以及年轻一代对家族记忆的新需求，三股力量同时交汇。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这构成一个千亿级的可服务空间——而今天绝大多数家庭，还没有一个真正好用的数字家谱工具。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这是我们听到最真实的声音。今天修一本家谱，几乎是一代人的负担。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左边这张概念图，是一卷断裂的家谱，蓝光粒子正在把断裂处一点点接续起来——这正是我们想做的事。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编修靠手工，信息常年不更新，个人传记说不清真假，血缘关系查起来困难。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女性很难平等上谱，家族史料也几乎无法与地方志、古籍相互印证。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这六件事，市面上的工具没有一件能完整做到。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我们的差异化定位是三根支柱：能考据、会叙事、可对话。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左边是我们产品里的家族世系树效果图，血脉在数字世界清晰延展。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能考据，接入地方志和二十五史等古籍，让每条家谱信息都有出处、可印证。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会叙事，把谱系和口述整理成真正可读、可传的家族故事；可对话，是让家族数字人能回答后代的提问。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为什么是现在？因为市面上最强的海外产品 MyHeritage，能做到修图、认亲，却读不懂中国的地方志和二十五史。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右边这张效果图，就是我们的差异化证据：古籍与数字考据的结合。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华语家谱市场，缺一个能把中文史料真正考据起来、讲出家族故事的答案。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云科铭典把考据、叙事、对话合为一体，定位就是能考据、会叙事、可对话的家族数字生命体。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看竞品。大谱师 AI 识谱能减少九成人工录入，专业版从 980 元起；孝和云谱覆盖 30 万套谱、427 个姓氏、1.25 亿人丁，还有口述 AI 转写。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MyHeritage 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的老照片修复和认亲很强，但它读不懂中国的地方志和二十五史。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它们都只做到了某一块。只有我们把编修更新、史料考据、家族叙事、家族对话全部做成标配，尤其补上了中文史料考据这一块空白。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这六项是我们围绕用户真实需求收敛出的产品闭环。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数字化编修解决效率，动态更新让家谱不再常年过时，资料审定守住真实与隐私。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血缘关系查询是我们的特色：选中家族里任意两位成员，系统能一步算出他们之间的称谓关系，比如堂兄弟、表亲、叔侄。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男女平等上谱回应现代家庭观念，史料印证则是我们区别于所有竞品的核心能力。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我们的想象不止于一本谱。更进一步，是家族记忆守护。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左边这张效果图，是长者向家人讲述家族往事、记忆被记录守护的场景。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口述史：为长者录制人生故事，AI 转写整理，把一代人的声音留住。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数字分身：基于口述和史料构建可对话的记忆数字人，让后辈能问得到祖辈的人生。我们始终以真实史料和授权为边界。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这一页讲我们的进阶能力，从记忆守护走向数字追思。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核心新增是线上祭祖、数字追思：虚拟祠堂、先人纪念馆、纪念日提醒，让后辈随时远程献花、留声、共祭，把牵挂安放下来。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第二是家族社群协作，认证家族圈层，修谱共祭协作，让家族真正活跃起来。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第三是家族知识库，把口述史和史料沉淀成可问答的家族百科，记忆数字人持续陪伴。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这些功能补齐了高频、情感两个维度，是二期商业化的核心增长点。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我们的商业模型是一个自我增强的飞轮。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左侧这张概念图，一个高速旋转的光轮不断甩出数据粒子，下方古籍化作数据流汇入——寓意考据与数据互相反哺。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第一步考据可信建立公信力，公信力带来共建谱系，数据资产越聚越准，再反向提升考据能力。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飞轮一旦转起来，会越转越快。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变现上我们设计了三条互不依赖的腿。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左边这张概念图，一棵家族树向三条光脉延伸，分别点亮 C 端、机构、文旅三个市场。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端订阅带来规模与稳定现金。机构服务面向宗族和姓氏研究会，客单价高、背书强。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端文旅与学术打开高客单空间。三腿并行，单条腿波动不影响整体现金流。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我们的目标人群分几层：有修谱刚需的家族与宗族是最核心的付费方；关心家族史的中老年和想记录口述的长者带来高黏性；文旅、学术、文博机构是B端合作方。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获客上，从宗族祠堂和姓氏研究会切入建立信任，用小红书和抖音的内容种草触达年轻一代，再用口述史线下活动与学术背书把口碑做厚。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落地节奏分三步走。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一期立信任：先做编修和史料考据，打一个宗族样板，用可信度换第一批付费用户。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二期做留存传播：上线口述史和记忆数字人，靠情感叙事留住人，借内容传播带来增量。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三期生态变现：打开文旅、学术等B端，构建家族数据资产生态，让飞轮真正放大。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团队是学术基因加智能工程的双轮驱动。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学术与史料端，我们有数据资产、历史文献的研究背景，主持国家社科重大项目与专著，也积累了地方志和古籍智能体的研发。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智能与工程端，我们有大模型、数字人、多模态的工程能力，以及在线平台和智能体开发经验，背靠高校与企业联合研发资源。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这让我们既能做深考据，也能做硬产品。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最后，回到我们的初心。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背景这棵由星辰汇聚而成的家族树，正是我们希望为每个家庭点亮的样子。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我们相信，每一段家族记忆都值得被看见、被讲述、被记住。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云科铭典希望能和各位一起，共建华语世界的家族数字生命体。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感谢聆听，期待与大家深入交流与合作。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P12：白底，教育12个JY 4×3卡片矩阵，JY12浅蓝高亮。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教育智能体架构图。基座统一提供账号、模型网关、知识库、未成年人保护等公共能力；教育子平台按学科辅导、升学规划、就业职业、课程伴学、家校协同五条线组织12个智能体，示范先行。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教育v3UI：服务超市展开，新闻课程带图。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P13：白底，健康7个JK 4+3卡片+1个虚线边界卡。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健康智能体架构图。基座提供医学知识库、医疗合规免责、OCR化验单等公共能力；子平台按生活方式、就医指引、医美心理、健康数据、公益科普五条线组织7个智能体，严守不诊断、不处方边界。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健康v3UI：服务超市展开，新闻课程带图。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P14：白底，企业16个QY 4×4卡片矩阵，QY13浅蓝高亮。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企业智能体架构图。本类为专项资助重点保障。基座统一企业实名、商业秘密合规、企查查/税务API；子平台按企业画像、政策服务、上市专精、融资对接、产业协同五条线组织16个智能体。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企业v3UI：服务超市展开，新闻课程带图。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数据智能体任务部署页。原核心团队2个（SJ01杨锴、SJ02张旭），新增硕士数据治理课程产出15个（SJ03-SJ17），覆盖采集质量、存储安全、处理共享三条线。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架构图。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数据v3UI：服务超市大卡片展开，新闻课程带图，17个真实名称。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知识产权智能体任务部署。原核心6个有负责人，新增本科知产课程16个+硕士知产课程13个（涉外部分已划入国际知产），覆盖申请、维权、运营、教学全链条。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架构图。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知产v3UI：服务超市展开，新闻课程带图，35个真实名称。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法律智能体独立成类，聚焦科研、教学、公益普法，不做企业实务。含咨询、合同、类案、文书四个方向。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架构图。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法律v3UI：服务超市展开，新闻课程带图。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国际知产智能体独立成类。原5个有负责人，新增本科国际规则4个+硕士涉外业务4个（PCT/海牙/海关/FTO）。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架构图。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国际v3UI：服务超市展开，新闻课程带图。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跨境数字贸易智能体独立成类。原KJ01-05，新增数据治理跨境5个+涉外法治20个，覆盖合规审查、跨境流动、争议解决、国际规制四线。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架构图。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跨境v3UI：服务超市展开，新闻课程带图。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最后进入第六部分：团队执行规划，包括会议总历、研发十步流程、阶段成果要求、职责边界和附则。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每个智能体2000元劳务经费，分设计、开发、测试上线、运营四步各500元。每步明确成果物和对接形式，形成敏捷闭环，同时沉淀纵向课题申报素材和横向项目案例。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P18：白底会议总历，双列12块（周日-周五），★统筹会浅蓝高亮。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P19：白底十步流程5×2卡片，06系统开发深蓝高亮。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P20：白底九项阶段成果3×3卡片，07可运行版本浅蓝高亮。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P21：白底双角色，左联合主持浅灰卡，右项目负责人白卡蓝边。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P22：白底附则6条，4浅灰+2虚线风险提示卡。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P23：白底 Q&amp;A 结尾页，大标题+副标题+底部信息条。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1D3EBFE-17B7-4B52-A950-F5902E23035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6152FE8-EADA-4CF3-8822-17D2E5FB983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2D81DB2-249D-4470-93E1-CDA3F7329AF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D246007-BEEE-43E3-8496-E5177E3BAC5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8149B1A-114C-44FC-B29A-788C4CFDCA1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4F81C60-76C5-43E6-80A3-4433A266866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2B8EAD1-BFB7-4A11-A7E3-BABD43B8C7A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F99EB62-1473-4DC6-ACA1-53E9299796C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0D8EC19-51A1-40E3-B5C3-606C032DF79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AB92307-1E73-4F08-A8D3-1C814E47E1E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610AC1-8E25-4C4A-8152-F967E1E8D86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995A76D-5E04-43CC-BBB0-4773E071403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784CFDA-C807-4876-9931-45B75A44523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086952D-BE11-4D00-9618-15296DB3B25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8BCA61E-8C28-433F-BF37-B915B123954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6CC11B6-1D81-4F84-82B4-50E9869EDB5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30674CE-D506-4B09-8490-121669B1ABE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614D1F5-E1C6-4AF0-8B07-8B2ABCF3EBD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DE85FC4-4857-4217-A409-DA9267E4249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0CDEE96-B5E2-41B3-9DD5-09BEF3253CA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19D01D5-D8D8-4988-99FD-2DE0C78F115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4AE0FA9-8432-4239-BAF8-30FC095E1A3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32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33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6483E32-F87D-4DC3-A480-371F0E741E5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3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3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15C6988-89CB-45E4-8FDD-D1F788E4CA5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2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3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4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B801A17-0187-4602-9159-597A94D6887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48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49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5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5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F81412-DE39-485E-ACA1-E5B9E762209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3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54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55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56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7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5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5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6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C7CC43B-1EE0-409A-A25C-9A1FBD5A631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6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8E913FA-00C9-49BF-8B1E-74CCDB439E0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DB39EC8-475F-42FE-86E3-49578C8E909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9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1C1AEE6-A7FA-483D-AF8C-F725515F587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74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75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6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7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7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7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08356AC-0C9B-4409-A294-88397D41637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81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8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6C2D314-8D67-4665-B1B1-5E7EC9C80C4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85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86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0B68584-B232-40F1-9366-D45A7FD063E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5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6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单击此处添加副标题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9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9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F6DAB588-F785-42A6-A7EA-980047BEACE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0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93DE600E-AB83-4C56-BB2B-5B9A3A6C0C4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05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6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0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0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893A0DE6-48A9-440D-A149-C5F94762FF5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1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12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7DDDAF3D-FF20-4244-8462-A67D03D67F9C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6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17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18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19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20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2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2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2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9D622750-08F4-476E-8BD2-813AE335C26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2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2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1046E78A-8AA8-4C66-9E8E-9D8912A2910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6465E2A9-83DF-4C03-BDDC-EB6CBAA99B6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3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32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3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3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29D492DC-0B47-4C9D-8968-F9E3ADB5914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37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238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9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4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4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5B56FC88-C1B3-40A4-A549-991DFFD6E56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43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44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A4647CB1-71F9-4E2F-B39F-0E68FD2B690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48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49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5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5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7BDD55E9-C678-437A-9CA6-EC4C53695F6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58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91666"/>
              </a:lnSpc>
              <a:spcBef>
                <a:spcPts val="1000"/>
              </a:spcBef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59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6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6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BEFD5D73-6E45-42E1-BA82-598FD1BD5D6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3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4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6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6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D23C70AF-3A61-4283-981F-2E9E27B43B0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8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9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7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7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7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E89B5AEF-9D4C-4609-89C6-341145DC202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3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74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75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C447FA3F-B73D-4A11-AB93-756C3F7CEF4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9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0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81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82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83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8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8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8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877E29A3-C876-4CEA-92F1-75E1FFFC217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8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8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9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63BF679C-34FA-462B-B0DA-518B8D5942A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9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C3692334-A58A-4548-A997-A057779DA35F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94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95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6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9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9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9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C4BAA5D3-54F9-4FF9-9CC0-4E54E0B5F87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00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30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02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0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0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9D719B4F-D1AB-4791-8446-A5229B18A1EE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06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07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9E76957D-408D-426B-A0E8-F0E846AF746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11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91666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12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9A199A6E-5EF7-4C67-8220-C1254EE3339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D1F5D63-09A9-4C61-94DD-29C51722689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71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5591451-A72E-420B-9E5E-C95E978BB3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11" r:id="rId1"/>
    <p:sldLayoutId id="2157483712" r:id="rId2"/>
    <p:sldLayoutId id="2157483713" r:id="rId3"/>
    <p:sldLayoutId id="2157483714" r:id="rId4"/>
    <p:sldLayoutId id="2157483715" r:id="rId5"/>
    <p:sldLayoutId id="2157483716" r:id="rId6"/>
    <p:sldLayoutId id="2157483717" r:id="rId7"/>
    <p:sldLayoutId id="2157483718" r:id="rId8"/>
    <p:sldLayoutId id="2157483719" r:id="rId9"/>
    <p:sldLayoutId id="2157483720" r:id="rId10"/>
    <p:sldLayoutId id="215748372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2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12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111ABF8-A52A-44AF-A370-B945620C33C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22" r:id="rId1"/>
    <p:sldLayoutId id="2157483723" r:id="rId2"/>
    <p:sldLayoutId id="2157483724" r:id="rId3"/>
    <p:sldLayoutId id="2157483725" r:id="rId4"/>
    <p:sldLayoutId id="2157483726" r:id="rId5"/>
    <p:sldLayoutId id="2157483727" r:id="rId6"/>
    <p:sldLayoutId id="2157483728" r:id="rId7"/>
    <p:sldLayoutId id="2157483729" r:id="rId8"/>
    <p:sldLayoutId id="2157483730" r:id="rId9"/>
    <p:sldLayoutId id="2157483731" r:id="rId10"/>
    <p:sldLayoutId id="215748373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9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单击此处添加标题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19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单击此处添加文本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9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日期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9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22860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9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67E53180-DD9B-4353-B494-20EF7FB996E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33" r:id="rId1"/>
    <p:sldLayoutId id="2157483734" r:id="rId2"/>
    <p:sldLayoutId id="2157483735" r:id="rId3"/>
    <p:sldLayoutId id="2157483736" r:id="rId4"/>
    <p:sldLayoutId id="2157483737" r:id="rId5"/>
    <p:sldLayoutId id="2157483738" r:id="rId6"/>
    <p:sldLayoutId id="2157483739" r:id="rId7"/>
    <p:sldLayoutId id="2157483740" r:id="rId8"/>
    <p:sldLayoutId id="2157483741" r:id="rId9"/>
    <p:sldLayoutId id="2157483742" r:id="rId10"/>
    <p:sldLayoutId id="215748374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253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54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5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l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5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ctr">
              <a:lnSpc>
                <a:spcPct val="100000"/>
              </a:lnSpc>
              <a:spcBef>
                <a:spcPts val="1000"/>
              </a:spcBef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-228600" algn="r">
              <a:lnSpc>
                <a:spcPct val="100000"/>
              </a:lnSpc>
              <a:spcBef>
                <a:spcPts val="1000"/>
              </a:spcBef>
            </a:pPr>
            <a:fld id="{A9711212-BEB9-4ADF-8FAC-E77AD5733A37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44" r:id="rId1"/>
    <p:sldLayoutId id="2157483745" r:id="rId2"/>
    <p:sldLayoutId id="2157483746" r:id="rId3"/>
    <p:sldLayoutId id="2157483747" r:id="rId4"/>
    <p:sldLayoutId id="2157483748" r:id="rId5"/>
    <p:sldLayoutId id="2157483749" r:id="rId6"/>
    <p:sldLayoutId id="2157483750" r:id="rId7"/>
    <p:sldLayoutId id="2157483751" r:id="rId8"/>
    <p:sldLayoutId id="2157483752" r:id="rId9"/>
    <p:sldLayoutId id="2157483753" r:id="rId10"/>
    <p:sldLayoutId id="215748375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>
                <a:alpha val="100000"/>
              </a:srgbClr>
            </a:gs>
            <a:gs pos="60000">
              <a:srgbClr val="EFF6FF">
                <a:alpha val="100000"/>
              </a:srgbClr>
            </a:gs>
            <a:gs pos="100000">
              <a:srgbClr val="F5F3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906000" y="762000"/>
            <a:ext cx="1524000" cy="15240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0" y="1270000"/>
            <a:ext cx="762000" cy="7620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651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spc="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TEAM PLANNING · 2026-2027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69">
            <a:off x="1016040" y="2089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2026-2027年团队规划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276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暨本学期第一次例会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4572000"/>
            <a:ext cx="698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整体规划 · 项目 · 机构 · 学术 · 智能体研发 · 执行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636000" y="457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2026.10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12509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5875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968500" y="1625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团队整体规划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968500" y="19558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2026-2027学年团队定位、总体目标与研-学-产协同格局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23177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016000" y="24511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968500" y="2489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团队项目规划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968500" y="28194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纵向课题、横向课题、项目结题三条线分工与当前任务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31813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33147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968500" y="33528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团队机构规划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968500" y="36830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四个研究机构定位、分工与参与人员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40449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6000" y="41783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968500" y="42164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团队学术规划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968500" y="45466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五大研究方向、论纲系列与学术绩效规则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49085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50419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968500" y="5080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团队智能体研发规划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968500" y="54102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十大类智能体任务部署、基座架构与子平台规划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297">
            <a:off x="1016004" y="577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 txBox="1"/>
          <p:nvPr/>
        </p:nvSpPr>
        <p:spPr>
          <a:xfrm>
            <a:off x="1016000" y="59055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968500" y="59436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团队执行规划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968500" y="62738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会议总历、研发十步流程、阶段成果、职责边界与附则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团队整体规划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518669" y="64886"/>
            <a:ext cx="606829" cy="570114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63500" sx="102000" sy="102000" algn="ctr">
              <a:srgbClr val="000000">
                <a:alpha val="40000"/>
              </a:srgbClr>
            </a:outerShdw>
          </a:effectLst>
        </p:spPr>
        <p:txBody>
          <a:bodyPr vert="horz" wrap="square" lIns="180000" tIns="180000" rIns="180000" bIns="18000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0567" t="10034" r="20696" b="9415"/>
          <a:stretch>
            <a:fillRect/>
          </a:stretch>
        </p:blipFill>
        <p:spPr>
          <a:xfrm>
            <a:off x="11580253" y="129515"/>
            <a:ext cx="483660" cy="440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团队整体规划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1162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460500"/>
            <a:ext cx="4826000" cy="2032000"/>
          </a:xfrm>
          <a:prstGeom prst="roundRect">
            <a:avLst>
              <a:gd name="adj" fmla="val 5000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270000" y="1625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团队定位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032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以数据要素与智能体研发为主线，打造"尖峰且靠谱"的跨校研究团队，构建研-学-产一体化格局。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460500"/>
            <a:ext cx="4826000" cy="2032000"/>
          </a:xfrm>
          <a:prstGeom prst="roundRect">
            <a:avLst>
              <a:gd name="adj" fmla="val 5000"/>
            </a:avLst>
          </a:prstGeom>
          <a:solidFill>
            <a:srgbClr val="FAF5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1625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本学期重点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032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围绕五大研究方向推进论纲系列著作，同步落地十大类智能体研发，项目申报、机构建设和学术产出三线并进。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3810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六大板块协同推进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4318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整体规划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730500" y="4318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730500" y="4318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445000" y="4318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6366F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4445000" y="4318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机构规划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4318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8B5CF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159500" y="4318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学术规划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874000" y="4318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A855F7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874000" y="4318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智能体研发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88500" y="4318000"/>
            <a:ext cx="1524000" cy="762000"/>
          </a:xfrm>
          <a:prstGeom prst="roundRect">
            <a:avLst>
              <a:gd name="adj" fmla="val 10000"/>
            </a:avLst>
          </a:prstGeom>
          <a:solidFill>
            <a:srgbClr val="D946E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9588500" y="43180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执行规划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16000" y="5588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每个人都参加一个项目组、一个机构组；任何人都可以牵头申请横向课题，团队配合，老师参与。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15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团队项目规划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635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项目申报结题团队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10350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1430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周日 14:00–16:00 项目会议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160000" cy="1270000"/>
          </a:xfrm>
          <a:prstGeom prst="roundRect">
            <a:avLst>
              <a:gd name="adj" fmla="val 6000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1714500"/>
            <a:ext cx="965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纵向课题 · 领头：</a:t>
            </a:r>
            <a:r>
              <a:rPr lang="en-US" sz="1400" b="1" i="0" u="none" strike="noStrike" dirty="0" smtClean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何梦婷</a:t>
            </a:r>
            <a:endParaRPr lang="en-US" sz="1100" dirty="0"/>
          </a:p>
        </p:txBody>
      </p:sp>
      <p:sp>
        <p:nvSpPr>
          <p:cNvPr id="7" name="AutoShape 7"/>
          <p:cNvSpPr txBox="1"/>
          <p:nvPr/>
        </p:nvSpPr>
        <p:spPr>
          <a:xfrm>
            <a:off x="1270000" y="2095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成员：何梦婷（领头）、刘省身、周云涛、杨锴、龚欣仪、桂安雅、慕锦沛、贾志轩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10160000" cy="1270000"/>
          </a:xfrm>
          <a:prstGeom prst="roundRect">
            <a:avLst>
              <a:gd name="adj" fmla="val 6000"/>
            </a:avLst>
          </a:prstGeom>
          <a:solidFill>
            <a:srgbClr val="F0FDF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89608" y="3175000"/>
            <a:ext cx="9986392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横向课题 · 领头：</a:t>
            </a:r>
            <a:r>
              <a:rPr lang="en-US" sz="1400" b="1" i="0" u="none" strike="noStrike" dirty="0" smtClean="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王福新</a:t>
            </a:r>
            <a:endParaRPr lang="en-US" sz="1100" dirty="0"/>
          </a:p>
        </p:txBody>
      </p:sp>
      <p:sp>
        <p:nvSpPr>
          <p:cNvPr id="10" name="AutoShape 10"/>
          <p:cNvSpPr txBox="1"/>
          <p:nvPr/>
        </p:nvSpPr>
        <p:spPr>
          <a:xfrm>
            <a:off x="1270000" y="3556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成员：王福新（领头）、陈奥运、郭嘉铭、梁郑英格、张旭、陈泳麟、李晓倩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10160000" cy="1270000"/>
          </a:xfrm>
          <a:prstGeom prst="roundRect">
            <a:avLst>
              <a:gd name="adj" fmla="val 6000"/>
            </a:avLst>
          </a:prstGeom>
          <a:solidFill>
            <a:srgbClr val="FAF5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270000" y="4635500"/>
            <a:ext cx="965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项目结题 · 领头：</a:t>
            </a:r>
            <a:r>
              <a:rPr lang="en-US" sz="1400" b="1" i="0" u="none" strike="noStrike" dirty="0" smtClean="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程凡</a:t>
            </a:r>
            <a:endParaRPr lang="en-US" sz="1100" dirty="0"/>
          </a:p>
        </p:txBody>
      </p:sp>
      <p:sp>
        <p:nvSpPr>
          <p:cNvPr id="13" name="AutoShape 13"/>
          <p:cNvSpPr txBox="1"/>
          <p:nvPr/>
        </p:nvSpPr>
        <p:spPr>
          <a:xfrm>
            <a:off x="1270000" y="5016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成员：程凡（领头）、何思帆、宋永辉、陈律威、周泽羽、蒋云龙、胡孟琦、林正伦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纵向项目申请体系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领头：何梦婷　|　全员参与申报，采集与遴选是核心环节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3175000" cy="1143000"/>
          </a:xfrm>
          <a:prstGeom prst="roundRect">
            <a:avLst>
              <a:gd name="adj" fmla="val 6666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68400" y="15494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① 申报历程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重点研发规划、自科群体、自科面上、社科重大、社科重点；教育部、省哲社等逐年递进申报。科发院、社科院遍历及其他课题来源库。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08500" y="1460500"/>
            <a:ext cx="3175000" cy="1143000"/>
          </a:xfrm>
          <a:prstGeom prst="roundRect">
            <a:avLst>
              <a:gd name="adj" fmla="val 6666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660900" y="15494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② 项目范围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数据主权、数据要素、专利智能、文化智能、产业智能五大方向全覆盖</a:t>
            </a:r>
          </a:p>
        </p:txBody>
      </p:sp>
      <p:sp>
        <p:nvSpPr>
          <p:cNvPr id="9" name="AutoShape 9"/>
          <p:cNvSpPr/>
          <p:nvPr/>
        </p:nvSpPr>
        <p:spPr>
          <a:xfrm>
            <a:off x="8001000" y="1460500"/>
            <a:ext cx="3175000" cy="1143000"/>
          </a:xfrm>
          <a:prstGeom prst="roundRect">
            <a:avLst>
              <a:gd name="adj" fmla="val 6666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53400" y="15494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⑤ 项目安排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按申报通知倒排工期：选题论证 → 开题 → 撰写 → 内审 → 提交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2857500"/>
            <a:ext cx="4826000" cy="1905000"/>
          </a:xfrm>
          <a:prstGeom prst="roundRect">
            <a:avLst>
              <a:gd name="adj" fmla="val 5332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206500" y="2984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③ 项目采集（重点扩展）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渠道扩展：国家基金、教育部、省哲社、省自科、校级科研平台、行业部委课题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信息采集：每人每周汇总通知，何梦婷统一建库，标注截止时间与适配方向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范围扩展：从单一图情领域拓展至法学、计算机、公共管理交叉选题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000" y="2857500"/>
            <a:ext cx="4826000" cy="1905000"/>
          </a:xfrm>
          <a:prstGeom prst="roundRect">
            <a:avLst>
              <a:gd name="adj" fmla="val 5332"/>
            </a:avLst>
          </a:prstGeom>
          <a:solidFill>
            <a:srgbClr val="F5F3FF">
              <a:alpha val="100000"/>
            </a:srgbClr>
          </a:solidFill>
          <a:ln w="254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540500" y="2984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④ 项目遴选（重点）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适配度评估：与五大方向、论纲著作、智能体阵列的匹配度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竞争力判断：前期成果积累、团队配置、申报书质量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集体决策：每周例会筛选，老师最终拍板，避免重复选题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5016500"/>
            <a:ext cx="10160000" cy="889000"/>
          </a:xfrm>
          <a:prstGeom prst="roundRect">
            <a:avLst>
              <a:gd name="adj" fmla="val 8571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270000" y="5143500"/>
            <a:ext cx="965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⑥ 项目会议　</a:t>
            </a: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周日下午 14:00-16:00 项目会议　|　采集通报 → 选题讨论 → 分工安排 → 进度跟进　|　何梦婷牵头，纵向组全员参加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横向项目小组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D94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领头：王福新　|　面向政府与企业的应用研究、数据治理咨询、智能体定制开发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4826000" cy="1524000"/>
          </a:xfrm>
          <a:prstGeom prst="roundRect">
            <a:avLst>
              <a:gd name="adj" fmla="val 6665"/>
            </a:avLst>
          </a:prstGeom>
          <a:solidFill>
            <a:srgbClr val="F0FDFA">
              <a:alpha val="100000"/>
            </a:srgbClr>
          </a:solidFill>
          <a:ln w="25400" cap="flat" cmpd="sng">
            <a:solidFill>
              <a:srgbClr val="0D948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44600" y="1587500"/>
            <a:ext cx="4445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业务方向：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（校企合作，校地合作， 产品拓展合作， 教育培训合作，融资拓展合作）（逐渐梳理成目前合作的能力体系、模式体系、产品体系、培训体系、融资体系，形成完备手册）。</a:t>
            </a:r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7" name="AutoShape 7"/>
          <p:cNvSpPr/>
          <p:nvPr/>
        </p:nvSpPr>
        <p:spPr>
          <a:xfrm>
            <a:off x="6349999" y="1460500"/>
            <a:ext cx="4960151" cy="1524000"/>
          </a:xfrm>
          <a:prstGeom prst="roundRect">
            <a:avLst>
              <a:gd name="adj" fmla="val 6665"/>
            </a:avLst>
          </a:prstGeom>
          <a:solidFill>
            <a:srgbClr val="F0FDFA">
              <a:alpha val="100000"/>
            </a:srgbClr>
          </a:solidFill>
          <a:ln w="25400" cap="flat" cmpd="sng">
            <a:solidFill>
              <a:srgbClr val="0D948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417074" y="1549400"/>
            <a:ext cx="482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运作机制：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· 每个人都可以牵头申请横向课题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· 老师牵线对接，团队配合交付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· 项目提成20%（团队负责人10%+团队成员10%）（投资项目（5%）、千万级以上项目另行讨论（10%））。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238500"/>
            <a:ext cx="10160000" cy="1270000"/>
          </a:xfrm>
          <a:prstGeom prst="roundRect">
            <a:avLst>
              <a:gd name="adj" fmla="val 8000"/>
            </a:avLst>
          </a:prstGeom>
          <a:solidFill>
            <a:srgbClr val="0F172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70000" y="33655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　</a:t>
            </a: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王福新（领头）、陈奥运、郭嘉铭、梁郑英格、张旭、陈泳麟、李晓倩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对接机构：湖北省数据要素创新研究院、武汉大学产业智能实验室　|　对接客户：数据局、数据交易所、行业龙头企业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7625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270000" y="48895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重点任务　</a:t>
            </a: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本学期大力拓展横向合作单位；每个成员至少参与1个横向项目；形成可复用的咨询方案模板和智能体交付标准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结题项目管理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9770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领头：程凡　|　统筹在研项目结项，确保按期高质量交付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3175000" cy="1270000"/>
          </a:xfrm>
          <a:prstGeom prst="roundRect">
            <a:avLst>
              <a:gd name="adj" fmla="val 6000"/>
            </a:avLst>
          </a:prstGeom>
          <a:solidFill>
            <a:srgbClr val="FFFB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68400" y="15621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在研项目盘点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逐一梳理立项时间、剩余周期、中期检查节点、待交成果清单</a:t>
            </a:r>
          </a:p>
        </p:txBody>
      </p:sp>
      <p:sp>
        <p:nvSpPr>
          <p:cNvPr id="7" name="AutoShape 7"/>
          <p:cNvSpPr/>
          <p:nvPr/>
        </p:nvSpPr>
        <p:spPr>
          <a:xfrm>
            <a:off x="4508500" y="1460500"/>
            <a:ext cx="3175000" cy="1270000"/>
          </a:xfrm>
          <a:prstGeom prst="roundRect">
            <a:avLst>
              <a:gd name="adj" fmla="val 6000"/>
            </a:avLst>
          </a:prstGeom>
          <a:solidFill>
            <a:srgbClr val="FFFB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660900" y="15621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结项材料规范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研究报告、论文清单、成果鉴定、经费决算、附件归档统一标准</a:t>
            </a:r>
          </a:p>
        </p:txBody>
      </p:sp>
      <p:sp>
        <p:nvSpPr>
          <p:cNvPr id="9" name="AutoShape 9"/>
          <p:cNvSpPr/>
          <p:nvPr/>
        </p:nvSpPr>
        <p:spPr>
          <a:xfrm>
            <a:off x="8001000" y="1460500"/>
            <a:ext cx="3175000" cy="1270000"/>
          </a:xfrm>
          <a:prstGeom prst="roundRect">
            <a:avLst>
              <a:gd name="adj" fmla="val 6000"/>
            </a:avLst>
          </a:prstGeom>
          <a:solidFill>
            <a:srgbClr val="FFFB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53400" y="15621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进度督办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每月跟进各项目进度，提前预警延期风险，确保按期结项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2984500"/>
            <a:ext cx="10160000" cy="1524000"/>
          </a:xfrm>
          <a:prstGeom prst="roundRect">
            <a:avLst>
              <a:gd name="adj" fmla="val 6665"/>
            </a:avLst>
          </a:prstGeom>
          <a:solidFill>
            <a:srgbClr val="FEF3C7">
              <a:alpha val="50000"/>
            </a:srgbClr>
          </a:solidFill>
          <a:ln w="25400" cap="flat" cmpd="sng">
            <a:solidFill>
              <a:srgbClr val="D9770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270000" y="3111500"/>
            <a:ext cx="9652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 dirty="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核心成员　</a:t>
            </a:r>
            <a:r>
              <a:rPr lang="en-US" sz="11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程凡（领头）、何思帆、宋永辉、陈律威、周泽羽、蒋云龙、胡孟琦、</a:t>
            </a:r>
            <a:r>
              <a:rPr lang="en-US" sz="1100" b="0" i="0" u="none" strike="noStrike" dirty="0" smtClean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林正伦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016000" y="47625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270000" y="48641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工作要求　</a:t>
            </a: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每个在研项目建立结项台账，明确交付物和时间节点；结项成果同步沉淀为知识库、智能体素材，为后续平台发展提供基础。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15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团队机构规划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518669" y="64886"/>
            <a:ext cx="606829" cy="570114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63500" sx="102000" sy="102000" algn="ctr">
              <a:srgbClr val="000000">
                <a:alpha val="40000"/>
              </a:srgbClr>
            </a:outerShdw>
          </a:effectLst>
        </p:spPr>
        <p:txBody>
          <a:bodyPr vert="horz" wrap="square" lIns="180000" tIns="180000" rIns="180000" bIns="18000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0567" t="10034" r="20696" b="9415"/>
          <a:stretch>
            <a:fillRect/>
          </a:stretch>
        </p:blipFill>
        <p:spPr>
          <a:xfrm>
            <a:off x="11580253" y="129515"/>
            <a:ext cx="483660" cy="440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湖北省数据要素创新研究院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领头：王福新　|　定位：数据要素流通与价值化转化的智库与产业对接平台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06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发展计划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建设数据要素领域年度智库报告品牌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对接武汉、深圳数据交易所，开展数据资产入表咨询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每年举办数据要素高峰论坛与专题研讨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40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核心品牌成果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数据要素年度发展报告（持续更新）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数据要素指数与典型案例库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论坛、讲堂、调研成果系列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206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平台与传播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独立网站 + 微信公众号持续运营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每周发布洞察文章，每月更新案例库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40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智能体阵列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270000" y="50546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自主演化　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从智库研究出发，逐步形成"研究-咨询-智能体-平台"闭环，自主拓展行业合作伙伴，持续产出品牌成果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1320800"/>
            <a:ext cx="1016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参与人员：王福新、何梦婷、梁郑英格、张旭、陈泳麟、李晓倩、吴书琦(26本)、张格源(26本)、李汶鸿(26本)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湖北省数字生态与治理研究中心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D948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领头：何梦婷（李新来联合负责）　|　定位：数字生态评估与治理政策研究高地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06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发展计划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发布数字生态发展指数与年度白皮书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为省、市数据局提供治理政策咨询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建设数字生态评估指标体系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40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核心品牌成果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湖北数字生态发展白皮书（年度）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数字生态指数与城市排名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产业数据库与治理案例库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206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平台与传播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独立网站 + 微信公众号运营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白皮书发布会 + 政策解读系列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40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智能体阵列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270000" y="50546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自主演化　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以指数和白皮书为核心品牌，从湖北逐步扩展至中部地区，形成"评估-政策-智能体"的治理决策支持体系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1320800"/>
            <a:ext cx="1016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参与人员</a:t>
            </a:r>
            <a:r>
              <a:rPr lang="en-US" sz="1000" b="0" i="0" u="none" strike="noStrike" dirty="0" smtClean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000" b="0" i="0" u="none" strike="noStrike" dirty="0" smtClean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何梦婷、</a:t>
            </a:r>
            <a:r>
              <a:rPr lang="en-US" sz="1000" b="0" i="0" u="none" strike="noStrike" dirty="0" smtClean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李新来</a:t>
            </a:r>
            <a:r>
              <a:rPr lang="en-US" sz="10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、杨锴、龚欣仪、桂安雅、林羿辰(26本)、沈大琦(26本)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湖北省数据局·武汉大学联合创新中心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D9770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领头：程凡　|　定位：数据要素治理的省校协同创新与智库支持平台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06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发展计划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承接省数据局委托课题与政策研究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产出高质量智库报告直报决策部门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组织数据要素政策培训与实务研讨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40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核心品牌成果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数据要素治理智库报告系列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政策解读内参与要情报告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省校联合课题成果集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206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平台与传播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内部简报 + 政策要情直报渠道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定期组织省校联合工作会议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40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智能体阵列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270000" y="50546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自主演化　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以省数据局合作关系为基础，从委托课题走向政策预研、标准制定，逐步成为数据要素治理的核心思想库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1320800"/>
            <a:ext cx="1016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参与人员：程凡、慕锦沛、梁俊杰(26本)、陈冠佑(26本)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武汉大学产业智能实验室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8B5C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领头：陈奥运　|　定位：产业智能体研发与行业落地的工程化平台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206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发展计划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建设产业智能体统一开发与部署平台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对接行业龙头企业，交付定制智能体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五年投入1000万，打造全球企业智能体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460500"/>
            <a:ext cx="4826000" cy="1651000"/>
          </a:xfrm>
          <a:prstGeom prst="roundRect">
            <a:avLst>
              <a:gd name="adj" fmla="val 461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40500" y="1587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核心品牌成果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企业智能体平台与行业解决方案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智能体开发工具链与标准规范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行业智能体应用案例集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206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平台与传播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平台产品官网 + 微信公众号</a:t>
            </a: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案例持续更新，用户自助体验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33020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40500" y="34290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智能体阵列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270000" y="50546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自主演化　</a:t>
            </a: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从武汉大学校友企业智能体（深圳站）起步，逐步扩展至全球企业智能体，平台化运营、产品化交付，形成可持续的产业智能生态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1320800"/>
            <a:ext cx="1016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参与人员：陈奥运、郭嘉铭、陈律威、周泽羽、蒋云龙、杨茗然(24本)、王灿阳(24本)、周嘉怡(26本)、饶灵(26本)、吴真颖(26本)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15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团队学术规划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518669" y="64886"/>
            <a:ext cx="606829" cy="570114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63500" sx="102000" sy="102000" algn="ctr">
              <a:srgbClr val="000000">
                <a:alpha val="40000"/>
              </a:srgbClr>
            </a:outerShdw>
          </a:effectLst>
        </p:spPr>
        <p:txBody>
          <a:bodyPr vert="horz" wrap="square" lIns="180000" tIns="180000" rIns="180000" bIns="18000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0567" t="10034" r="20696" b="9415"/>
          <a:stretch>
            <a:fillRect/>
          </a:stretch>
        </p:blipFill>
        <p:spPr>
          <a:xfrm>
            <a:off x="11580253" y="129515"/>
            <a:ext cx="483660" cy="440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4572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五大研究方向与科学布局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9588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 txBox="1"/>
          <p:nvPr/>
        </p:nvSpPr>
        <p:spPr>
          <a:xfrm>
            <a:off x="1016000" y="10414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从基础理论到产业应用的五层科学体系，团队持续更新、不断充实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1905000" cy="698500"/>
          </a:xfrm>
          <a:prstGeom prst="roundRect">
            <a:avLst>
              <a:gd name="adj" fmla="val 10908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79500" y="1549400"/>
            <a:ext cx="177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方向一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数据主权与跨境智能</a:t>
            </a:r>
          </a:p>
        </p:txBody>
      </p:sp>
      <p:sp>
        <p:nvSpPr>
          <p:cNvPr id="7" name="AutoShape 7"/>
          <p:cNvSpPr/>
          <p:nvPr/>
        </p:nvSpPr>
        <p:spPr>
          <a:xfrm>
            <a:off x="3111500" y="1460500"/>
            <a:ext cx="1905000" cy="698500"/>
          </a:xfrm>
          <a:prstGeom prst="roundRect">
            <a:avLst>
              <a:gd name="adj" fmla="val 10908"/>
            </a:avLst>
          </a:prstGeom>
          <a:solidFill>
            <a:srgbClr val="F0FDF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175000" y="1549400"/>
            <a:ext cx="177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数据要素与情报智能</a:t>
            </a:r>
          </a:p>
        </p:txBody>
      </p:sp>
      <p:sp>
        <p:nvSpPr>
          <p:cNvPr id="9" name="AutoShape 9"/>
          <p:cNvSpPr/>
          <p:nvPr/>
        </p:nvSpPr>
        <p:spPr>
          <a:xfrm>
            <a:off x="5207000" y="1460500"/>
            <a:ext cx="1905000" cy="698500"/>
          </a:xfrm>
          <a:prstGeom prst="roundRect">
            <a:avLst>
              <a:gd name="adj" fmla="val 10908"/>
            </a:avLst>
          </a:prstGeom>
          <a:solidFill>
            <a:srgbClr val="FFFB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270500" y="1549400"/>
            <a:ext cx="177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知识产权与专利智能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302500" y="1460500"/>
            <a:ext cx="1905000" cy="698500"/>
          </a:xfrm>
          <a:prstGeom prst="roundRect">
            <a:avLst>
              <a:gd name="adj" fmla="val 10908"/>
            </a:avLst>
          </a:prstGeom>
          <a:solidFill>
            <a:srgbClr val="F5F3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366000" y="1549400"/>
            <a:ext cx="177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方向四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图书情报与文化智能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398000" y="1460500"/>
            <a:ext cx="1905000" cy="698500"/>
          </a:xfrm>
          <a:prstGeom prst="roundRect">
            <a:avLst>
              <a:gd name="adj" fmla="val 10908"/>
            </a:avLst>
          </a:prstGeom>
          <a:solidFill>
            <a:srgbClr val="FEF2F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461500" y="1549400"/>
            <a:ext cx="177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数字生态与产业智能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2413000"/>
            <a:ext cx="10160000" cy="1651000"/>
          </a:xfrm>
          <a:prstGeom prst="roundRect">
            <a:avLst>
              <a:gd name="adj" fmla="val 4613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270000" y="2540000"/>
            <a:ext cx="965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科学定位　</a:t>
            </a: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数据要素为核心生产要素，以智能体为核心生产工具，构建"理论—方法—技术—应用"完整链条。五个方向从国家主权层、要素配置层、产权保护层、知识服务层、产业应用层递进展开，形成覆盖数字经济治理全链条的学科矩阵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每个方向均产出：论纲著作（体系化理论）→ 指数/白皮书（实证评估）→ 知识库（领域知识工程）→ 智能体（工具化落地）→ 平台（规模化应用），五位一体、持续迭代。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4318000"/>
            <a:ext cx="10160000" cy="1016000"/>
          </a:xfrm>
          <a:prstGeom prst="roundRect">
            <a:avLst>
              <a:gd name="adj" fmla="val 7500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270000" y="44450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学术绩效规则　</a:t>
            </a: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论文须带项目号且有老师署名方可报销；投稿前须与老师沟通计划。论纲组稿优先综合贡献。方向布局动态调整，团队每学期评估充实。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15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团队智能体研发规划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518669" y="64886"/>
            <a:ext cx="606829" cy="570114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63500" sx="102000" sy="102000" algn="ctr">
              <a:srgbClr val="000000">
                <a:alpha val="40000"/>
              </a:srgbClr>
            </a:outerShdw>
          </a:effectLst>
        </p:spPr>
        <p:txBody>
          <a:bodyPr vert="horz" wrap="square" lIns="180000" tIns="180000" rIns="180000" bIns="18000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0567" t="10034" r="20696" b="9415"/>
          <a:stretch>
            <a:fillRect/>
          </a:stretch>
        </p:blipFill>
        <p:spPr>
          <a:xfrm>
            <a:off x="11580253" y="129515"/>
            <a:ext cx="483660" cy="440855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智能体建设概况与原则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3">
            <a:off x="1016079" y="100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3335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206500" y="14605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建设背景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面向数字经济治理与产业智能化需求，团队围绕十大领域系统布局智能体集群，覆盖科研、教学、服务、管理全场景，以智能体为核心生产工具重塑研究范式。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1333500"/>
            <a:ext cx="4826000" cy="1397000"/>
          </a:xfrm>
          <a:prstGeom prst="roundRect">
            <a:avLst>
              <a:gd name="adj" fmla="val 5454"/>
            </a:avLst>
          </a:prstGeom>
          <a:solidFill>
            <a:srgbClr val="F5F3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540500" y="1460500"/>
            <a:ext cx="444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构建十大类智能体阵列，每个方向形成"知识库—智能体—平台"三级支撑。智能体数量按需求动态扩展，团队按机构分工协同推进，持续迭代优化。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2984500"/>
            <a:ext cx="2349500" cy="2032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3111500"/>
            <a:ext cx="2095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需求牵引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从真实科研问题和行业需求出发，每个智能体对应明确应用场景，不做无的放矢的开发。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56000" y="2984500"/>
            <a:ext cx="2349500" cy="2032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08400" y="3111500"/>
            <a:ext cx="2095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02 分类建设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按十大领域分类布局，各领域有明确责任小组，避免重复建设，资源集中调配。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096000" y="2984500"/>
            <a:ext cx="2349500" cy="2032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248400" y="3111500"/>
            <a:ext cx="2095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03 团队协同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跨团队联合开发，每个智能体明确负责人和参与人，知识共享、能力互补。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636000" y="2984500"/>
            <a:ext cx="2349500" cy="2032000"/>
          </a:xfrm>
          <a:prstGeom prst="roundRect">
            <a:avLst>
              <a:gd name="adj" fmla="val 375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788400" y="3111500"/>
            <a:ext cx="2095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04 持续迭代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边建设边应用边优化，每周例会复盘进展，根据使用反馈快速迭代升级。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十大类智能体矩阵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3970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68400" y="15240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01 科创智能体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68400" y="17780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68400" y="23114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前沿科创·成果转化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94100" y="13970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746500" y="15240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02 文化智能体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46500" y="17780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46500" y="23114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古籍家谱·文化传承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13970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24600" y="15240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03 教育智能体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24600" y="17780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32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24600" y="23114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学科教学·升学就业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50300" y="13970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902700" y="15240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04 健康智能体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902700" y="17780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02700" y="23114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健康科普·就医指引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28575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168400" y="2984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 企业智能体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68400" y="32385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68400" y="37719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企业全周期服务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594100" y="28575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3746500" y="2984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06 数据智能体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46500" y="32385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17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46500" y="37719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数据要素·治理流通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72200" y="28575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6324600" y="2984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07 知产智能体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324600" y="32385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24600" y="37719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专利申请·维权运营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750300" y="28575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8902700" y="2984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08 法律智能体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902700" y="32385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02700" y="37719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公益普法·教学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016000" y="43180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1168400" y="44450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09 国际知产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68400" y="46990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14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68400" y="52324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PCT出海·海外维权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3594100" y="4318000"/>
            <a:ext cx="24257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3746500" y="44450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10 跨境数字贸易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46500" y="4699000"/>
            <a:ext cx="217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46500" y="5232400"/>
            <a:ext cx="2171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数据出境·数字贸易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172200" y="4318000"/>
            <a:ext cx="5016500" cy="1270000"/>
          </a:xfrm>
          <a:prstGeom prst="roundRect">
            <a:avLst>
              <a:gd name="adj" fmla="val 600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6" name="AutoShape 46"/>
          <p:cNvSpPr txBox="1"/>
          <p:nvPr/>
        </p:nvSpPr>
        <p:spPr>
          <a:xfrm>
            <a:off x="6350000" y="45212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智能体总数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350000" y="47752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180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8890000" y="4826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原核心80 + 课程团队100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平台基座 · 四层架构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524000" y="1524000"/>
            <a:ext cx="9144000" cy="863600"/>
          </a:xfrm>
          <a:prstGeom prst="roundRect">
            <a:avLst>
              <a:gd name="adj" fmla="val 5879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778000" y="1714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778000" y="2032000"/>
            <a:ext cx="863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十大类智能体应用 · 面向学生 / 教师 / 企业 / 公众的服务入口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540000"/>
            <a:ext cx="8128000" cy="863600"/>
          </a:xfrm>
          <a:prstGeom prst="roundRect">
            <a:avLst>
              <a:gd name="adj" fmla="val 5879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286000" y="2730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286000" y="30480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 / 提示词工程 / 工作流编排 / 多模型调度 / 插件工具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540000" y="3556000"/>
            <a:ext cx="7112000" cy="863600"/>
          </a:xfrm>
          <a:prstGeom prst="roundRect">
            <a:avLst>
              <a:gd name="adj" fmla="val 5879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794000" y="3746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794000" y="4064000"/>
            <a:ext cx="660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领域语料库 / 向量索引 / 数据治理 / 权限与分级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48000" y="4572000"/>
            <a:ext cx="6096000" cy="863600"/>
          </a:xfrm>
          <a:prstGeom prst="roundRect">
            <a:avLst>
              <a:gd name="adj" fmla="val 5879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302000" y="4762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基础设施层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3302000" y="5080000"/>
            <a:ext cx="558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算力 · 模型服务 · 存储 · 安全与合规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05 / 23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基座平台的科学定位与职责边界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333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不是技术堆砌，而是遵循软件工程与 AI 工程化规律的公共能力沉淀层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1778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一、为什么需要基座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25400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2311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1 关注点分离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93800" y="26162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智能体专注领域知识，基座专注通用技术能力，二者解耦独立演进。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46500" y="2159000"/>
            <a:ext cx="25400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924300" y="2311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2 平台化战略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924300" y="26162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连接供给侧（80个智能体）与需求侧（用户），规模越大边际成本越低。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159000"/>
            <a:ext cx="25400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654800" y="2311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 避免重复建设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654800" y="26162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账号/订单/权限统一建设一次，避免 80 个智能体各写一遍。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07500" y="2159000"/>
            <a:ext cx="19685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9372600" y="23114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4 AI 工程化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9372600" y="2616200"/>
            <a:ext cx="1714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统一模型网关、Prompt 版本、调用配额，从 demo 走向可运营产品。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16000" y="3683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二、基座处理什么（职责边界）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064000"/>
            <a:ext cx="19685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168400" y="4216400"/>
            <a:ext cx="1714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身份与访问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168400" y="4521200"/>
            <a:ext cx="17145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统一注册、单点登录、RBAC 角色权限；谁能用哪个智能体、看什么数据。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175000" y="4064000"/>
            <a:ext cx="19685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3327400" y="4216400"/>
            <a:ext cx="1714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交易与计费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3327400" y="4521200"/>
            <a:ext cx="17145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服务订单、会员订阅、支付结算；用户为什么付费、买了哪个智能体。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334000" y="4064000"/>
            <a:ext cx="19685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5486400" y="4216400"/>
            <a:ext cx="1714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智能体网关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5486400" y="4521200"/>
            <a:ext cx="17145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统一入口、模型路由、配额限流、调用审计；换模型、限频次、留日志。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4064000"/>
            <a:ext cx="19685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7645400" y="4216400"/>
            <a:ext cx="1714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数据与资产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7645400" y="4521200"/>
            <a:ext cx="17145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用户画像、会话日志、共享知识库、合规审计；沉淀行为反哺优化。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652000" y="4064000"/>
            <a:ext cx="1524000" cy="1651000"/>
          </a:xfrm>
          <a:prstGeom prst="roundRect">
            <a:avLst>
              <a:gd name="adj" fmla="val 333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9804400" y="42164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运营迭代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9804400" y="4521200"/>
            <a:ext cx="127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灰度配置、效果监控、A/B 实验、版本管理，数据驱动持续迭代。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016000" y="5905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边界：基座不做任何具体领域业务；领域知识与业务逻辑归智能体和领域基座。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06 / 23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设计指导小组与设计顾问机制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460500"/>
            <a:ext cx="4953000" cy="1016000"/>
          </a:xfrm>
          <a:prstGeom prst="roundRect">
            <a:avLst>
              <a:gd name="adj" fmla="val 5000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1651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桂安雅、龚欣仪 · 联合召集与主持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2032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设计技术研讨会：每周四晚 19:00–23:00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460500"/>
            <a:ext cx="4953000" cy="1016000"/>
          </a:xfrm>
          <a:prstGeom prst="roundRect">
            <a:avLst>
              <a:gd name="adj" fmla="val 5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477000" y="1651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不直接绑定大组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477000" y="2032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各牵头人按需向设计小组咨询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27305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设计指导小组成员（7 人）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111500"/>
            <a:ext cx="1397000" cy="889000"/>
          </a:xfrm>
          <a:prstGeom prst="roundRect">
            <a:avLst>
              <a:gd name="adj" fmla="val 57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32766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张运良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361950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需求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540000" y="3111500"/>
            <a:ext cx="1397000" cy="889000"/>
          </a:xfrm>
          <a:prstGeom prst="roundRect">
            <a:avLst>
              <a:gd name="adj" fmla="val 57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2540000" y="32766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尹壮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2540000" y="361950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UI 设计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064000" y="3111500"/>
            <a:ext cx="1397000" cy="889000"/>
          </a:xfrm>
          <a:prstGeom prst="roundRect">
            <a:avLst>
              <a:gd name="adj" fmla="val 5709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4064000" y="32766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桂安雅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4064000" y="361950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联合召集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588000" y="3111500"/>
            <a:ext cx="1397000" cy="889000"/>
          </a:xfrm>
          <a:prstGeom prst="roundRect">
            <a:avLst>
              <a:gd name="adj" fmla="val 5709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588000" y="32766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龚欣仪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5588000" y="361950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联合召集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3111500"/>
            <a:ext cx="1397000" cy="889000"/>
          </a:xfrm>
          <a:prstGeom prst="roundRect">
            <a:avLst>
              <a:gd name="adj" fmla="val 57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112000" y="32766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杨楷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7112000" y="361950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设计指导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636000" y="3111500"/>
            <a:ext cx="1397000" cy="889000"/>
          </a:xfrm>
          <a:prstGeom prst="roundRect">
            <a:avLst>
              <a:gd name="adj" fmla="val 57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8636000" y="32766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梁郑英格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8636000" y="3619500"/>
            <a:ext cx="139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设计指导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0" y="3111500"/>
            <a:ext cx="1016000" cy="889000"/>
          </a:xfrm>
          <a:prstGeom prst="roundRect">
            <a:avLst>
              <a:gd name="adj" fmla="val 57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0160000" y="32766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黄锦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0160000" y="3619500"/>
            <a:ext cx="101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设计指导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16000" y="4318000"/>
            <a:ext cx="101600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1270000" y="450850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示范先行 · 教育智能体 × 企业智能体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270000" y="4889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设计小组不直接绑定大组；当前优先关联指导教育智能体与企业智能体两类，先行形成示范样板。两类相关牵头人可随时向设计指导小组咨询，待示范跑通后再向其他大类推广。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08 / 23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技术指导小组与技术顾问机制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460500"/>
            <a:ext cx="3175000" cy="1143000"/>
          </a:xfrm>
          <a:prstGeom prst="roundRect">
            <a:avLst>
              <a:gd name="adj" fmla="val 444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44600" y="16510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李立秋 · 基座对接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44600" y="2032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凡与基座平台对接事宜，统一由李立秋负责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08500" y="1460500"/>
            <a:ext cx="3175000" cy="1143000"/>
          </a:xfrm>
          <a:prstGeom prst="roundRect">
            <a:avLst>
              <a:gd name="adj" fmla="val 444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737100" y="16510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刘省身 · 技术答疑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737100" y="2032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各小组开发遇到技术问题，统一由刘省身解答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1460500"/>
            <a:ext cx="3175000" cy="1143000"/>
          </a:xfrm>
          <a:prstGeom prst="roundRect">
            <a:avLst>
              <a:gd name="adj" fmla="val 444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229600" y="16510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蒋云龙 · 例会主持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229600" y="2032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例会时间：周三 19:00–23:00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28575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十大类智能体技术顾问（一对一辅导）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3238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168400" y="3327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科创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3505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刘省身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175000" y="3238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3327400" y="3327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文化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327400" y="3505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徐博、梁玉莲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34000" y="3238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486400" y="3327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教育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5486400" y="3505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郭嘉铭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3238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7645400" y="3327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健康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7645400" y="3505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陈律威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52000" y="3238500"/>
            <a:ext cx="15240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804400" y="3327400"/>
            <a:ext cx="127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企业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9804400" y="3505200"/>
            <a:ext cx="127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杨谨麟、陈奥运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3873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168400" y="3962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168400" y="4140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张旭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175000" y="3873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3327400" y="3962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3327400" y="4140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蒋欣宇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334000" y="3873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5486400" y="3962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法律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5486400" y="4140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谢政航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493000" y="3873500"/>
            <a:ext cx="19685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7645400" y="3962400"/>
            <a:ext cx="1714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国际知产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7645400" y="4140200"/>
            <a:ext cx="1714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冯文舒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652000" y="3873500"/>
            <a:ext cx="1524000" cy="508000"/>
          </a:xfrm>
          <a:prstGeom prst="roundRect">
            <a:avLst>
              <a:gd name="adj" fmla="val 7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9804400" y="3962400"/>
            <a:ext cx="127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数据跨境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9804400" y="4140200"/>
            <a:ext cx="127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刘永丽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16000" y="4699000"/>
            <a:ext cx="10160000" cy="1143000"/>
          </a:xfrm>
          <a:prstGeom prst="roundRect">
            <a:avLst>
              <a:gd name="adj" fmla="val 4442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6" name="AutoShape 46"/>
          <p:cNvSpPr txBox="1"/>
          <p:nvPr/>
        </p:nvSpPr>
        <p:spPr>
          <a:xfrm>
            <a:off x="1270000" y="48895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技术研发小组 · 培养目标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1270000" y="52324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全体成员学会基于 AI 辅助的智能体开发全栈技术；各设计人在技术顾问协助下，逐步具备独立完成智能体设计与开发的能力。　成员：李立秋、刘省身、陈律威、郭嘉铭、徐博、陈奥运、蒋云龙、张旭、谢政航、蒋欣宇、刘永丽、冯文舒、杨谨麟、梁玉莲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07 / 23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季度迭代法 · 敏捷版本节奏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1016000" y="1333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每 3 个月迭代一个版本（负责两个智能体者，单个智能体按半年迭代）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3238500" cy="2032000"/>
          </a:xfrm>
          <a:prstGeom prst="roundRect">
            <a:avLst>
              <a:gd name="adj" fmla="val 2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20320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第 1 个月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70000" y="2349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设计月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70000" y="2857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需求梳理、方案与交互设计、知识库规划，设计小组评审定稿。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841500"/>
            <a:ext cx="3238500" cy="2032000"/>
          </a:xfrm>
          <a:prstGeom prst="roundRect">
            <a:avLst>
              <a:gd name="adj" fmla="val 25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724400" y="20320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第 2 个月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724400" y="2349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修改迭代月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724400" y="2857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按评审意见迭代方案，深化功能与知识，完善原型与流程。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937500" y="1841500"/>
            <a:ext cx="3238500" cy="2032000"/>
          </a:xfrm>
          <a:prstGeom prst="roundRect">
            <a:avLst>
              <a:gd name="adj" fmla="val 250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191500" y="20320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第 3 个月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91500" y="2349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辅助开发月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191500" y="2857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辅助全栈开发、联调测试、对接基座，完成本版上线。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016000" y="4191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版本迭代的四个驱动因素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572000"/>
            <a:ext cx="2413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193800" y="4724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通用底座进步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193800" y="50292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基座能力升级带动智能体升级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9500" y="4572000"/>
            <a:ext cx="2413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3797300" y="4724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知识库采集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3797300" y="50292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持续采集、扩充领域知识资源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572000"/>
            <a:ext cx="24130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400800" y="4724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功能深化认知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400800" y="50292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对业务场景理解不断加深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26500" y="4572000"/>
            <a:ext cx="2349500" cy="101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9004300" y="4724400"/>
            <a:ext cx="2095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社会资源对接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9004300" y="5029200"/>
            <a:ext cx="209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对接外部资源与真实业务场景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016000" y="5842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弹性说明：上述三月节奏为建议周期，并非硬性固定；各智能体的实际进度与版本内容，根据每周技术/设计讨论会动态确定与调整。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09 / 23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73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16 个 · 本学期交付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93800" y="1524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177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科研项目辅助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93800" y="20701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慕锦沛 ｜ 项目申报辅助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970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71900" y="1524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71900" y="177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科研学术发展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71900" y="20701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龚欣仪 ｜ 学术成长咨询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970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50000" y="1524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177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科研数据挖掘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0" y="20701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桂安雅 ｜ 科研数据洞察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970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928100" y="1524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28100" y="177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知识产权运营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928100" y="20701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桂安雅 ｜ 运营方案梳理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514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93800" y="264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93800" y="2895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产教融合对接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93800" y="3187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张旭 ｜ 合作模式分析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514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71900" y="264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71900" y="2895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科创资本对接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71900" y="3187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李晓倩 ｜ 投融资匹配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514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350000" y="264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50000" y="2895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成果交易转化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350000" y="3187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龚欣仪 ｜ 价值梳理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514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928100" y="2641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28100" y="2895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科技园运营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928100" y="3187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慕锦沛 ｜ 园区孵化管理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3632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93800" y="3759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93800" y="4013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双创孵化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93800" y="4305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杨锴 ｜ 双创项目孵化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3632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71900" y="3759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71900" y="4013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科创研学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71900" y="4305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梁郑英格 ｜ 研学课程方案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3632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350000" y="3759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350000" y="4013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高校专利数据库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350000" y="4305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刘省身 ｜ 专利库检索服务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750300" y="3632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 txBox="1"/>
          <p:nvPr/>
        </p:nvSpPr>
        <p:spPr>
          <a:xfrm>
            <a:off x="8928100" y="3759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KG12</a:t>
            </a:r>
            <a:endParaRPr lang="en-US" sz="1100"/>
          </a:p>
        </p:txBody>
      </p:sp>
      <p:sp>
        <p:nvSpPr>
          <p:cNvPr id="52" name="AutoShape 52"/>
          <p:cNvSpPr txBox="1"/>
          <p:nvPr/>
        </p:nvSpPr>
        <p:spPr>
          <a:xfrm>
            <a:off x="8928100" y="4013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专利侵权预警</a:t>
            </a:r>
            <a:endParaRPr lang="en-US" sz="1100"/>
          </a:p>
        </p:txBody>
      </p:sp>
      <p:sp>
        <p:nvSpPr>
          <p:cNvPr id="53" name="AutoShape 53"/>
          <p:cNvSpPr txBox="1"/>
          <p:nvPr/>
        </p:nvSpPr>
        <p:spPr>
          <a:xfrm>
            <a:off x="8928100" y="4305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陈泳麟 ｜ 侵权风险识别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1016000" y="4749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 txBox="1"/>
          <p:nvPr/>
        </p:nvSpPr>
        <p:spPr>
          <a:xfrm>
            <a:off x="1193800" y="4876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KG13</a:t>
            </a:r>
            <a:endParaRPr lang="en-US" sz="1100"/>
          </a:p>
        </p:txBody>
      </p:sp>
      <p:sp>
        <p:nvSpPr>
          <p:cNvPr id="56" name="AutoShape 56"/>
          <p:cNvSpPr txBox="1"/>
          <p:nvPr/>
        </p:nvSpPr>
        <p:spPr>
          <a:xfrm>
            <a:off x="1193800" y="5130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专利申请评估</a:t>
            </a:r>
            <a:endParaRPr lang="en-US" sz="1100"/>
          </a:p>
        </p:txBody>
      </p:sp>
      <p:sp>
        <p:nvSpPr>
          <p:cNvPr id="57" name="AutoShape 57"/>
          <p:cNvSpPr txBox="1"/>
          <p:nvPr/>
        </p:nvSpPr>
        <p:spPr>
          <a:xfrm>
            <a:off x="1193800" y="5422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周云涛 ｜ 申请前评估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3594100" y="4749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 txBox="1"/>
          <p:nvPr/>
        </p:nvSpPr>
        <p:spPr>
          <a:xfrm>
            <a:off x="3771900" y="4876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KG14</a:t>
            </a:r>
            <a:endParaRPr lang="en-US" sz="1100"/>
          </a:p>
        </p:txBody>
      </p:sp>
      <p:sp>
        <p:nvSpPr>
          <p:cNvPr id="60" name="AutoShape 60"/>
          <p:cNvSpPr txBox="1"/>
          <p:nvPr/>
        </p:nvSpPr>
        <p:spPr>
          <a:xfrm>
            <a:off x="3771900" y="5130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专利价格预估</a:t>
            </a:r>
            <a:endParaRPr lang="en-US" sz="1100"/>
          </a:p>
        </p:txBody>
      </p:sp>
      <p:sp>
        <p:nvSpPr>
          <p:cNvPr id="61" name="AutoShape 61"/>
          <p:cNvSpPr txBox="1"/>
          <p:nvPr/>
        </p:nvSpPr>
        <p:spPr>
          <a:xfrm>
            <a:off x="3771900" y="5422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周云涛 ｜ 专利价值研判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6172200" y="4749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 txBox="1"/>
          <p:nvPr/>
        </p:nvSpPr>
        <p:spPr>
          <a:xfrm>
            <a:off x="6350000" y="4876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KG15</a:t>
            </a:r>
            <a:endParaRPr lang="en-US" sz="1100"/>
          </a:p>
        </p:txBody>
      </p:sp>
      <p:sp>
        <p:nvSpPr>
          <p:cNvPr id="64" name="AutoShape 64"/>
          <p:cNvSpPr txBox="1"/>
          <p:nvPr/>
        </p:nvSpPr>
        <p:spPr>
          <a:xfrm>
            <a:off x="6350000" y="5130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专利无效预警</a:t>
            </a:r>
            <a:endParaRPr lang="en-US" sz="1100"/>
          </a:p>
        </p:txBody>
      </p:sp>
      <p:sp>
        <p:nvSpPr>
          <p:cNvPr id="65" name="AutoShape 65"/>
          <p:cNvSpPr txBox="1"/>
          <p:nvPr/>
        </p:nvSpPr>
        <p:spPr>
          <a:xfrm>
            <a:off x="6350000" y="5422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宋永辉 ｜ 无效风险识别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8750300" y="4749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 txBox="1"/>
          <p:nvPr/>
        </p:nvSpPr>
        <p:spPr>
          <a:xfrm>
            <a:off x="8928100" y="4876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KG16</a:t>
            </a:r>
            <a:endParaRPr lang="en-US" sz="1100"/>
          </a:p>
        </p:txBody>
      </p:sp>
      <p:sp>
        <p:nvSpPr>
          <p:cNvPr id="68" name="AutoShape 68"/>
          <p:cNvSpPr txBox="1"/>
          <p:nvPr/>
        </p:nvSpPr>
        <p:spPr>
          <a:xfrm>
            <a:off x="8928100" y="5130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颠覆性技术识别</a:t>
            </a:r>
            <a:endParaRPr lang="en-US" sz="1100"/>
          </a:p>
        </p:txBody>
      </p:sp>
      <p:sp>
        <p:nvSpPr>
          <p:cNvPr id="69" name="AutoShape 69"/>
          <p:cNvSpPr txBox="1"/>
          <p:nvPr/>
        </p:nvSpPr>
        <p:spPr>
          <a:xfrm>
            <a:off x="8928100" y="5422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宋永辉 ｜ 前沿技术识别</a:t>
            </a:r>
            <a:endParaRPr lang="en-US" sz="1100"/>
          </a:p>
        </p:txBody>
      </p:sp>
      <p:sp>
        <p:nvSpPr>
          <p:cNvPr id="70" name="AutoShape 70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10 / 23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74000" y="7366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子平台聚焦领域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账号体系 / 登录鉴权 / 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 / 调用配额 / 计费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向量索引 / RAG 检索 / 知识治理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提示词编排 / 流程自动化 / 版本管理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外部 API / 工具调用 / 插件市场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安全合规审计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数据脱敏 / 日志留痕 / 合规审查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科创子平台 · 16 个智能体（领域知识）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科研项目线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KG1 申报辅助 · KG2 学术成长 · KG3 数据挖掘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知产运营线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KG4 专利运营 · KG7 成果交易转化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产教融合线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KG5 校企合作 · KG8 产学研对接模式分析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科创资本线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KG6 投融资匹配 · KG9 企业价值评估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成果转化线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KG10-16 技术转移 / 合同审查 / 落地孵化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分工原则：基座不碰科创领域知识，子平台不重复造账号 / 模型网关 / 知识库轮子，专注业务场景与行业语料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17500"/>
            <a:ext cx="101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3175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科创智能体 · 移动端 App 原型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3302000" cy="6096000"/>
          </a:xfrm>
          <a:prstGeom prst="roundRect">
            <a:avLst>
              <a:gd name="adj" fmla="val 12306"/>
            </a:avLst>
          </a:prstGeom>
          <a:solidFill>
            <a:srgbClr val="0F172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43000" y="762000"/>
            <a:ext cx="3048000" cy="5842000"/>
          </a:xfrm>
          <a:prstGeom prst="roundRect">
            <a:avLst>
              <a:gd name="adj" fmla="val 11665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762000"/>
            <a:ext cx="3048000" cy="381000"/>
          </a:xfrm>
          <a:prstGeom prst="roundRect">
            <a:avLst>
              <a:gd name="adj" fmla="val 93333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333500" y="8382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科创智能体</a:t>
            </a:r>
            <a:r>
              <a:rPr lang="en-US" sz="7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 · 移动端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1270000"/>
            <a:ext cx="2794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397000" y="13462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9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今日推荐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国社科申报辅助 · 论文降重润色</a:t>
            </a:r>
          </a:p>
        </p:txBody>
      </p:sp>
      <p:sp>
        <p:nvSpPr>
          <p:cNvPr id="10" name="AutoShape 10"/>
          <p:cNvSpPr txBox="1"/>
          <p:nvPr/>
        </p:nvSpPr>
        <p:spPr>
          <a:xfrm>
            <a:off x="1270000" y="2159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智能体服务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2476500"/>
            <a:ext cx="1270000" cy="698500"/>
          </a:xfrm>
          <a:prstGeom prst="roundRect">
            <a:avLst>
              <a:gd name="adj" fmla="val 14545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333500" y="2540000"/>
            <a:ext cx="114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科研项目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申报/指导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794000" y="2476500"/>
            <a:ext cx="1270000" cy="698500"/>
          </a:xfrm>
          <a:prstGeom prst="roundRect">
            <a:avLst>
              <a:gd name="adj" fmla="val 14545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857500" y="2540000"/>
            <a:ext cx="114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文献检索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精读/综述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270000" y="3302000"/>
            <a:ext cx="1270000" cy="698500"/>
          </a:xfrm>
          <a:prstGeom prst="roundRect">
            <a:avLst>
              <a:gd name="adj" fmla="val 14545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333500" y="3365500"/>
            <a:ext cx="114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论文润色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降重/翻译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794000" y="3302000"/>
            <a:ext cx="1270000" cy="698500"/>
          </a:xfrm>
          <a:prstGeom prst="roundRect">
            <a:avLst>
              <a:gd name="adj" fmla="val 14545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2857500" y="3365500"/>
            <a:ext cx="114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实验设计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方案/可视化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270000" y="4191000"/>
            <a:ext cx="2794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397000" y="42545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我的任务</a:t>
            </a:r>
            <a:r>
              <a:rPr lang="en-US" sz="8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3个进行中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论证报告撰写中 · 文献检索完成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143000" y="5969000"/>
            <a:ext cx="3048000" cy="63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270000" y="6032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首页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2032000" y="6032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2794000" y="6032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我的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5080000" y="1016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移动端与Web端同步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5080000" y="1651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每个智能体同时提供 Web 端工作台与手机端 App：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 Web端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：深度工作、批量处理、成果编辑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 移动端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：随时咨询、任务追踪、消息推送</a:t>
            </a:r>
          </a:p>
        </p:txBody>
      </p:sp>
      <p:sp>
        <p:nvSpPr>
          <p:cNvPr id="27" name="AutoShape 27"/>
          <p:cNvSpPr/>
          <p:nvPr/>
        </p:nvSpPr>
        <p:spPr>
          <a:xfrm>
            <a:off x="5080000" y="2921000"/>
            <a:ext cx="5588000" cy="1524000"/>
          </a:xfrm>
          <a:prstGeom prst="roundRect">
            <a:avLst>
              <a:gd name="adj" fmla="val 6665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5270500" y="30480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移动端核心功能：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智能体快捷入口 · 任务进度实时通知 · 语音提问</a:t>
            </a:r>
          </a:p>
          <a:p>
            <a:pPr marL="0" indent="0" algn="l">
              <a:lnSpc>
                <a:spcPct val="150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成果消息推送 · 审批确认 · 收藏常用智能体</a:t>
            </a:r>
          </a:p>
        </p:txBody>
      </p:sp>
      <p:sp>
        <p:nvSpPr>
          <p:cNvPr id="29" name="AutoShape 29"/>
          <p:cNvSpPr/>
          <p:nvPr/>
        </p:nvSpPr>
        <p:spPr>
          <a:xfrm>
            <a:off x="5080000" y="4699000"/>
            <a:ext cx="5588000" cy="762000"/>
          </a:xfrm>
          <a:prstGeom prst="roundRect">
            <a:avLst>
              <a:gd name="adj" fmla="val 1333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5270500" y="48006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十大类智能体均按此模式设计移动端，每个机构自主运营、持续迭代。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文化智能体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73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8 个 · 本学期交付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524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 txBox="1"/>
          <p:nvPr/>
        </p:nvSpPr>
        <p:spPr>
          <a:xfrm>
            <a:off x="1219200" y="1714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19200" y="2032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二十五史智能体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19200" y="2540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吕峥 ｜ 史料检索释义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524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 txBox="1"/>
          <p:nvPr/>
        </p:nvSpPr>
        <p:spPr>
          <a:xfrm>
            <a:off x="3797300" y="1714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97300" y="2032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地方志智能体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97300" y="2540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慕锦沛 ｜ 地域人文整理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524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375400" y="1714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75400" y="2032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数智家谱智能体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75400" y="25400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陈若涵、杨茗然等 ｜ 谱系梳理编辑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524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 txBox="1"/>
          <p:nvPr/>
        </p:nvSpPr>
        <p:spPr>
          <a:xfrm>
            <a:off x="8953500" y="1714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53500" y="2032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图书馆志愿者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953500" y="2540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梁郑英格 ｜ 志愿活动方案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3302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 txBox="1"/>
          <p:nvPr/>
        </p:nvSpPr>
        <p:spPr>
          <a:xfrm>
            <a:off x="1219200" y="3492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219200" y="3810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慧读伴学推广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219200" y="431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陈冠佑等 ｜ 阅读推广导读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3302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 txBox="1"/>
          <p:nvPr/>
        </p:nvSpPr>
        <p:spPr>
          <a:xfrm>
            <a:off x="3797300" y="3492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97300" y="3810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口述史料智能体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97300" y="431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杨茗然 ｜ 史料编目整理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3302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 txBox="1"/>
          <p:nvPr/>
        </p:nvSpPr>
        <p:spPr>
          <a:xfrm>
            <a:off x="6375400" y="3492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WH07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75400" y="3810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学者智能体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375400" y="431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杨茗然 ｜ 学术资料梳理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3302000"/>
            <a:ext cx="2425700" cy="1524000"/>
          </a:xfrm>
          <a:prstGeom prst="roundRect">
            <a:avLst>
              <a:gd name="adj" fmla="val 3331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 txBox="1"/>
          <p:nvPr/>
        </p:nvSpPr>
        <p:spPr>
          <a:xfrm>
            <a:off x="8953500" y="34925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WH08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53500" y="38100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文化遗产智能体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953500" y="4318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吕峥 ｜ 遗产保护科普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11 / 23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文化智能体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子平台聚焦文化传承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账号体系 / 登录鉴权 / 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 / 调用配额 / 计费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向量索引 / RAG 检索 / 知识治理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提示词编排 / 流程自动化 / 版本管理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外部 API / 工具调用 / 插件市场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安全合规审计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数据脱敏 / 日志留痕 / 合规审查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文化子平台 · 8 个智能体（文化语料）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古籍史料线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WH01 二十五史 · WH06 口述史料编目整理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地方人文线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WH02 地方志 · 地域人文整理与检索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家谱谱系线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WH03 数智家谱 · 谱系梳理与编辑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阅读推广线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WH04 图书馆志愿 · WH05 慧读伴学推广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学者知识线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WH07 学者智能体 · 学术传承与知识网络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分工原则：基座不碰古籍/家谱专业语料，子平台不重复造账号与模型网关，专注文化知识图谱与阅读服务场景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文化智能体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112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304800" y="203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数据主权论证助手</a:t>
            </a: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· Agent #001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22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● 运行中 · 负责人：冉从敬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" y="889000"/>
            <a:ext cx="2794000" cy="5842000"/>
          </a:xfrm>
          <a:prstGeom prst="roundRect">
            <a:avLst>
              <a:gd name="adj" fmla="val 363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355600" y="1016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" y="1333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2563EB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31800" y="1397000"/>
            <a:ext cx="2387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9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国社科重大项目论证报告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阶段：第三章撰写中 · 60%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355600" y="2095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任务分解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55600" y="23876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文献检索与综述（486篇）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论证框架大纲 v2.0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9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第三章：理论体系构建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第四章：国际比较研究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第五章：对策建议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最终统稿与查重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355600" y="4381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已产出物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55600" y="46736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文献综述报告（1.2万字）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论证框架大纲（2.8万字）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案例库（Meta/TikTok等12例）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引用文献管理表（486条）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49600" y="889000"/>
            <a:ext cx="6096000" cy="5842000"/>
          </a:xfrm>
          <a:prstGeom prst="roundRect">
            <a:avLst>
              <a:gd name="adj" fmla="val 17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3302000" y="10160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正在生成 · 第三章 数据主权理论体系构建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02000" y="1460500"/>
            <a:ext cx="5842000" cy="1524000"/>
          </a:xfrm>
          <a:prstGeom prst="roundRect">
            <a:avLst>
              <a:gd name="adj" fmla="val 5000"/>
            </a:avLst>
          </a:prstGeom>
          <a:solidFill>
            <a:srgbClr val="F1F5F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3429000" y="1549400"/>
            <a:ext cx="558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3.1 数据主权的三重维度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数据主权并非传统领土主权的简单延伸，而是在数字空间中呈现为资源主权、管辖主权与规则主权的有机统一体。</a:t>
            </a:r>
          </a:p>
          <a:p>
            <a:pPr marL="0" indent="0" algn="l">
              <a:lnSpc>
                <a:spcPct val="133333"/>
              </a:lnSpc>
            </a:pPr>
            <a:r>
              <a:rPr lang="en-US" sz="8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引用：Khan &amp; Hill (2023) 数字主权理论；参考团队《数据主权论纲》第二章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302000" y="3111500"/>
            <a:ext cx="5842000" cy="1524000"/>
          </a:xfrm>
          <a:prstGeom prst="roundRect">
            <a:avLst>
              <a:gd name="adj" fmla="val 5000"/>
            </a:avLst>
          </a:prstGeom>
          <a:solidFill>
            <a:srgbClr val="EFF6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3429000" y="3200400"/>
            <a:ext cx="558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3.2 正在撰写：数据主权的制度实现路径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基于DEPA、RCEP与欧盟GDPR的比较分析框架，构建中国数据主权制度的"三层架构"——基础层（国内立法）、中间层（双边协定）、顶层层（全球规则）...</a:t>
            </a:r>
          </a:p>
          <a:p>
            <a:pPr marL="0" indent="0" algn="l">
              <a:lnSpc>
                <a:spcPct val="133333"/>
              </a:lnSpc>
            </a:pPr>
            <a:r>
              <a:rPr lang="en-US" sz="8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文献匹配中... 已关联DEPA第8章、RCEP第12章、GDPR第五章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302000" y="4826000"/>
            <a:ext cx="5842000" cy="457200"/>
          </a:xfrm>
          <a:prstGeom prst="roundRect">
            <a:avLst>
              <a:gd name="adj" fmla="val 50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492500" y="4927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指令智能体：继续完善3.2节，补充中国《数据安全法》第21条分类分级制度...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0" y="889000"/>
            <a:ext cx="2794000" cy="5842000"/>
          </a:xfrm>
          <a:prstGeom prst="roundRect">
            <a:avLst>
              <a:gd name="adj" fmla="val 363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9601200" y="1016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知识库状态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01200" y="13335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690100" y="1397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团队已有论著</a:t>
            </a:r>
            <a:r>
              <a:rPr lang="en-US" sz="8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23篇已入库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《数据主权论纲》等系列成果</a:t>
            </a:r>
          </a:p>
        </p:txBody>
      </p:sp>
      <p:sp>
        <p:nvSpPr>
          <p:cNvPr id="25" name="AutoShape 25"/>
          <p:cNvSpPr/>
          <p:nvPr/>
        </p:nvSpPr>
        <p:spPr>
          <a:xfrm>
            <a:off x="9601200" y="21590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9690100" y="22225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权威法规库</a:t>
            </a:r>
            <a:r>
              <a:rPr lang="en-US" sz="8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156部已入库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中外数据法/国际协定全文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601200" y="29845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690100" y="3048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案例库</a:t>
            </a:r>
            <a:r>
              <a:rPr lang="en-US" sz="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 32例更新中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Meta 12亿/TikTok 5.3亿等</a:t>
            </a:r>
          </a:p>
        </p:txBody>
      </p:sp>
      <p:sp>
        <p:nvSpPr>
          <p:cNvPr id="29" name="AutoShape 29"/>
          <p:cNvSpPr txBox="1"/>
          <p:nvPr/>
        </p:nvSpPr>
        <p:spPr>
          <a:xfrm>
            <a:off x="9601200" y="387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质量检查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9601200" y="41656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引用格式规范率 100%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事实核查通过率 98%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查重率待最终检测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专家评审：待提交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11200"/>
          </a:xfrm>
          <a:prstGeom prst="roundRect">
            <a:avLst>
              <a:gd name="adj" fmla="val 0"/>
            </a:avLst>
          </a:prstGeom>
          <a:solidFill>
            <a:srgbClr val="7C2D1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304800" y="203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二十四史智能体 · 世家考证</a:t>
            </a:r>
            <a:r>
              <a:rPr lang="en-US" sz="1000" b="0" i="0" u="none" strike="noStrike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 · Agent #014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22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DE047"/>
                </a:solidFill>
                <a:latin typeface="Noto Sans SC"/>
                <a:ea typeface="Noto Sans SC"/>
                <a:cs typeface="Noto Sans SC"/>
                <a:sym typeface="Noto Sans SC"/>
              </a:rPr>
              <a:t>● 运行中 · 负责人：吕峥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" y="889000"/>
            <a:ext cx="2794000" cy="5842000"/>
          </a:xfrm>
          <a:prstGeom prst="roundRect">
            <a:avLst>
              <a:gd name="adj" fmla="val 363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355600" y="1016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" y="1333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7C2D12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31800" y="1397000"/>
            <a:ext cx="2387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900" b="1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《史记·项羽本纪》史料考证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阶段：人物关系图谱构建 · 45%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355600" y="2095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典籍语料库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55600" y="23876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史记（三家注） 全文已入库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汉书 全文已入库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资治通鉴 前10卷已入库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后汉书 标注中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三国志 待入库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355600" y="4127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已产出物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55600" y="44196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人物知识条目 128条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事件关联图谱 36组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史料异文对照 48处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考证札记 6篇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49600" y="889000"/>
            <a:ext cx="6096000" cy="5842000"/>
          </a:xfrm>
          <a:prstGeom prst="roundRect">
            <a:avLst>
              <a:gd name="adj" fmla="val 17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3302000" y="10160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正在生成 · 项羽本纪人物关系与史料考证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02000" y="1460500"/>
            <a:ext cx="5842000" cy="1651000"/>
          </a:xfrm>
          <a:prstGeom prst="roundRect">
            <a:avLst>
              <a:gd name="adj" fmla="val 4614"/>
            </a:avLst>
          </a:prstGeom>
          <a:solidFill>
            <a:srgbClr val="FEF3C7">
              <a:alpha val="5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3429000" y="1549400"/>
            <a:ext cx="558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考证札记 · 鸿门宴座次考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《史记·项羽本纪》载："项王即日因留沛公与饮。项王、项伯东向坐；亚父南向坐——亚父者，范增也；沛公北向坐；张良西向侍。"</a:t>
            </a:r>
          </a:p>
          <a:p>
            <a:pPr marL="0" indent="0" algn="l">
              <a:lnSpc>
                <a:spcPct val="133333"/>
              </a:lnSpc>
            </a:pPr>
            <a:r>
              <a:rPr lang="en-US" sz="8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互证：</a:t>
            </a:r>
            <a:r>
              <a:rPr lang="en-US" sz="8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《史记正义》引如淳曰："堂上南向为尊，室中东向为尊。"项羽东向坐，是以宾主自居而轻刘邦。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302000" y="3238500"/>
            <a:ext cx="58420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3429000" y="33274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人物关系图谱（已构建部分）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项羽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—叔侄— 项伯 | —谋臣— 范增 | —敌— 刘邦 | —将— 龙且/季布/钟离昧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刘邦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—谋臣— 张良/萧何 | —将— 韩信/樊哙 | —敌— 项羽</a:t>
            </a:r>
          </a:p>
          <a:p>
            <a:pPr marL="0" indent="0" algn="l">
              <a:lnSpc>
                <a:spcPct val="133333"/>
              </a:lnSpc>
            </a:pPr>
            <a:r>
              <a:rPr lang="en-US" sz="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自动标注中... 已从《史记》正文中抽取人物关系 86 条，待人工复核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302000" y="4699000"/>
            <a:ext cx="5842000" cy="457200"/>
          </a:xfrm>
          <a:prstGeom prst="roundRect">
            <a:avLst>
              <a:gd name="adj" fmla="val 50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492500" y="4800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指令智能体：继续整理《汉书》与《史记》关于项羽记载的异文...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0" y="889000"/>
            <a:ext cx="2794000" cy="5842000"/>
          </a:xfrm>
          <a:prstGeom prst="roundRect">
            <a:avLst>
              <a:gd name="adj" fmla="val 363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9601200" y="1016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语料与标注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01200" y="13335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690100" y="1397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已标注典籍</a:t>
            </a:r>
            <a:r>
              <a:rPr lang="en-US" sz="8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3部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史记/汉书/资治通鉴(部分)</a:t>
            </a:r>
          </a:p>
        </p:txBody>
      </p:sp>
      <p:sp>
        <p:nvSpPr>
          <p:cNvPr id="25" name="AutoShape 25"/>
          <p:cNvSpPr/>
          <p:nvPr/>
        </p:nvSpPr>
        <p:spPr>
          <a:xfrm>
            <a:off x="9601200" y="21590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9690100" y="22225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实体标注量</a:t>
            </a:r>
            <a:r>
              <a:rPr lang="en-US" sz="8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人物486/地名213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已通过专家抽检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601200" y="29845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690100" y="3048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标点断句</a:t>
            </a:r>
            <a:r>
              <a:rPr lang="en-US" sz="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 82% 完成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繁体竖排OCR后断句</a:t>
            </a:r>
          </a:p>
        </p:txBody>
      </p:sp>
      <p:sp>
        <p:nvSpPr>
          <p:cNvPr id="29" name="AutoShape 29"/>
          <p:cNvSpPr txBox="1"/>
          <p:nvPr/>
        </p:nvSpPr>
        <p:spPr>
          <a:xfrm>
            <a:off x="9601200" y="387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产出规范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9601200" y="41656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原文引用精确到卷次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双出处互证标注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历代注疏关联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待：人文学者复核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11200"/>
          </a:xfrm>
          <a:prstGeom prst="roundRect">
            <a:avLst>
              <a:gd name="adj" fmla="val 0"/>
            </a:avLst>
          </a:prstGeom>
          <a:solidFill>
            <a:srgbClr val="BE18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304800" y="203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专利新颖性检索员</a:t>
            </a:r>
            <a:r>
              <a:rPr lang="en-US" sz="1000" b="0" i="0" u="none" strike="noStrike">
                <a:solidFill>
                  <a:srgbClr val="FBCFE8"/>
                </a:solidFill>
                <a:latin typeface="Noto Sans SC"/>
                <a:ea typeface="Noto Sans SC"/>
                <a:cs typeface="Noto Sans SC"/>
                <a:sym typeface="Noto Sans SC"/>
              </a:rPr>
              <a:t> · Agent #027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366000" y="2286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6EFAC"/>
                </a:solidFill>
                <a:latin typeface="Noto Sans SC"/>
                <a:ea typeface="Noto Sans SC"/>
                <a:cs typeface="Noto Sans SC"/>
                <a:sym typeface="Noto Sans SC"/>
              </a:rPr>
              <a:t>● 运行中 · 负责人：张旭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" y="889000"/>
            <a:ext cx="2794000" cy="5842000"/>
          </a:xfrm>
          <a:prstGeom prst="roundRect">
            <a:avLst>
              <a:gd name="adj" fmla="val 363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355600" y="1016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当前任务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" y="1333500"/>
            <a:ext cx="2540000" cy="635000"/>
          </a:xfrm>
          <a:prstGeom prst="roundRect">
            <a:avLst>
              <a:gd name="adj" fmla="val 12000"/>
            </a:avLst>
          </a:prstGeom>
          <a:solidFill>
            <a:srgbClr val="BE185D">
              <a:alpha val="8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31800" y="1397000"/>
            <a:ext cx="2387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900" b="1" i="0" u="none" strike="noStrike">
                <a:solidFill>
                  <a:srgbClr val="9D174D"/>
                </a:solidFill>
                <a:latin typeface="Noto Sans SC"/>
                <a:ea typeface="Noto Sans SC"/>
                <a:cs typeface="Noto Sans SC"/>
                <a:sym typeface="Noto Sans SC"/>
              </a:rPr>
              <a:t>一种数据分类分级方法 在先技术检索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8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阶段：对比分析中 · 75%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355600" y="2095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检索策略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55600" y="23876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关键词初检：1,240件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IPC分类号筛选：312件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摘要相关性排序：48件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9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全文对比精读：12件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出具检索报告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355600" y="4381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已锁定对比文件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55600" y="46736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BE185D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CN108xxxA · 相似度 87%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BE185D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US2020/xxxB2 · 相似度 72%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BE185D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WO2021/xxx · 相似度 65%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49600" y="889000"/>
            <a:ext cx="6096000" cy="5842000"/>
          </a:xfrm>
          <a:prstGeom prst="roundRect">
            <a:avLst>
              <a:gd name="adj" fmla="val 17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3302000" y="10160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权利要求对比分析 · 独立权利要求1 vs 最接近现有技术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02000" y="1460500"/>
            <a:ext cx="5842000" cy="1651000"/>
          </a:xfrm>
          <a:prstGeom prst="roundRect">
            <a:avLst>
              <a:gd name="adj" fmla="val 4614"/>
            </a:avLst>
          </a:prstGeom>
          <a:solidFill>
            <a:srgbClr val="FCE7F3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3429000" y="1549400"/>
            <a:ext cx="558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9D174D"/>
                </a:solidFill>
                <a:latin typeface="Noto Sans SC"/>
                <a:ea typeface="Noto Sans SC"/>
                <a:cs typeface="Noto Sans SC"/>
                <a:sym typeface="Noto Sans SC"/>
              </a:rPr>
              <a:t>区别技术特征认定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本申请：基于数据敏感等级的动态访问控制策略生成方法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对比文件CN108xxxA：公开了静态数据分级标签，但未公开"基于使用场景动态调整策略"这一特征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区别特征存在，建议进一步检索动态访问控制相关文献</a:t>
            </a:r>
          </a:p>
        </p:txBody>
      </p:sp>
      <p:sp>
        <p:nvSpPr>
          <p:cNvPr id="17" name="AutoShape 17"/>
          <p:cNvSpPr/>
          <p:nvPr/>
        </p:nvSpPr>
        <p:spPr>
          <a:xfrm>
            <a:off x="3302000" y="3238500"/>
            <a:ext cx="58420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3429000" y="33274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新颖性/初步创造性判断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新颖性：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未发现单独影响权利要求1新颖性的对比文件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创造性：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需结合对比文件1+公知常识综合判断，正在生成技术启示对比表</a:t>
            </a:r>
          </a:p>
          <a:p>
            <a:pPr marL="0" indent="0" algn="l">
              <a:lnSpc>
                <a:spcPct val="133333"/>
              </a:lnSpc>
            </a:pPr>
            <a:r>
              <a:rPr lang="en-US" sz="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自动生成中... 对比表完成度 60%，预计产出3页分析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302000" y="4699000"/>
            <a:ext cx="5842000" cy="457200"/>
          </a:xfrm>
          <a:prstGeom prst="roundRect">
            <a:avLst>
              <a:gd name="adj" fmla="val 50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3492500" y="4800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指令智能体：补充检索"动态访问控制"相关PCT文献，扩大范围至2020年后...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0" y="889000"/>
            <a:ext cx="2794000" cy="5842000"/>
          </a:xfrm>
          <a:prstGeom prst="roundRect">
            <a:avLst>
              <a:gd name="adj" fmla="val 363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9601200" y="1016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专利数据库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01200" y="13335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690100" y="1397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CNIPA 中国专利</a:t>
            </a:r>
            <a:r>
              <a:rPr lang="en-US" sz="8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已连接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1.2亿+件全文</a:t>
            </a:r>
          </a:p>
        </p:txBody>
      </p:sp>
      <p:sp>
        <p:nvSpPr>
          <p:cNvPr id="25" name="AutoShape 25"/>
          <p:cNvSpPr/>
          <p:nvPr/>
        </p:nvSpPr>
        <p:spPr>
          <a:xfrm>
            <a:off x="9601200" y="21590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9690100" y="22225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Espacenet / WIPO</a:t>
            </a:r>
            <a:r>
              <a:rPr lang="en-US" sz="8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已连接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PCT/EP/US/JPO 全文</a:t>
            </a:r>
          </a:p>
        </p:txBody>
      </p:sp>
      <p:sp>
        <p:nvSpPr>
          <p:cNvPr id="27" name="AutoShape 27"/>
          <p:cNvSpPr/>
          <p:nvPr/>
        </p:nvSpPr>
        <p:spPr>
          <a:xfrm>
            <a:off x="9601200" y="2984500"/>
            <a:ext cx="2540000" cy="698500"/>
          </a:xfrm>
          <a:prstGeom prst="roundRect">
            <a:avLst>
              <a:gd name="adj" fmla="val 10908"/>
            </a:avLst>
          </a:prstGeom>
          <a:solidFill>
            <a:srgbClr val="F8FAF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690100" y="30480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非专利文献</a:t>
            </a:r>
            <a:r>
              <a:rPr lang="en-US" sz="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 补充中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7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IEEE/ACM/CNKI</a:t>
            </a:r>
          </a:p>
        </p:txBody>
      </p:sp>
      <p:sp>
        <p:nvSpPr>
          <p:cNvPr id="29" name="AutoShape 29"/>
          <p:cNvSpPr txBox="1"/>
          <p:nvPr/>
        </p:nvSpPr>
        <p:spPr>
          <a:xfrm>
            <a:off x="9601200" y="387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产出报告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9601200" y="41656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检索策略说明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✓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对比文件清单（12件）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技术对比分析表（进行中）</a:t>
            </a:r>
          </a:p>
          <a:p>
            <a:pPr marL="0" indent="0" algn="l">
              <a:lnSpc>
                <a:spcPct val="150000"/>
              </a:lnSpc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○ 初步审查意见建议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81426">
                  <a:alpha val="55000"/>
                </a:srgbClr>
              </a:gs>
              <a:gs pos="100000">
                <a:srgbClr val="081426">
                  <a:alpha val="85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219200"/>
            <a:ext cx="965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数智家谱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965200" y="2235200"/>
            <a:ext cx="1041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能考据 · 会叙事 · 可对话</a:t>
            </a:r>
            <a:endParaRPr lang="en-US" sz="1100"/>
          </a:p>
          <a:p>
            <a:pPr marL="0" indent="0" algn="l">
              <a:lnSpc>
                <a:spcPct val="91666"/>
              </a:lnSpc>
            </a:pPr>
            <a:r>
              <a:rPr lang="en-US" sz="5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的家族数字生命体</a:t>
            </a:r>
          </a:p>
        </p:txBody>
      </p:sp>
      <p:cxnSp>
        <p:nvCxnSpPr>
          <p:cNvPr id="6" name="Connector 6"/>
          <p:cNvCxnSpPr/>
          <p:nvPr/>
        </p:nvCxnSpPr>
        <p:spPr>
          <a:xfrm rot="-19098">
            <a:off x="1016018" y="50482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5AA0D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52578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ED7EB"/>
                </a:solidFill>
                <a:latin typeface="Noto Sans SC"/>
                <a:ea typeface="Noto Sans SC"/>
                <a:cs typeface="Noto Sans SC"/>
                <a:sym typeface="Noto Sans SC"/>
              </a:rPr>
              <a:t>以地方志与古籍为史料，把家谱变成可信、可讲、可对话的家族记忆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MARKET · 01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2.7 亿家族的记忆，正在被数字化唤醒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32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TAM 2.7亿家庭 → 人均一笔家谱订阅，构成千亿级可服务空间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2616200"/>
            <a:ext cx="5969000" cy="3454400"/>
          </a:xfrm>
          <a:prstGeom prst="roundRect">
            <a:avLst>
              <a:gd name="adj" fmla="val 5879"/>
            </a:avLst>
          </a:prstGeom>
          <a:solidFill>
            <a:srgbClr val="EBF3F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43000" y="2794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42D4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市场空间漏斗 · 单位：万户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994">
            <a:off x="1143007" y="32702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CD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397000" y="3479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A8C"/>
                </a:solidFill>
                <a:latin typeface="Noto Sans SC"/>
                <a:ea typeface="Noto Sans SC"/>
                <a:cs typeface="Noto Sans SC"/>
                <a:sym typeface="Noto Sans SC"/>
              </a:rPr>
              <a:t>TAM 2.7亿家庭</a:t>
            </a:r>
            <a:r>
              <a:rPr lang="en-US" sz="1400" b="0" i="0" u="none" strike="noStrike">
                <a:solidFill>
                  <a:srgbClr val="142D46"/>
                </a:solidFill>
                <a:latin typeface="Noto Sans SC"/>
                <a:ea typeface="Noto Sans SC"/>
                <a:cs typeface="Noto Sans SC"/>
                <a:sym typeface="Noto Sans SC"/>
              </a:rPr>
              <a:t>　· 100%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784600"/>
            <a:ext cx="4572000" cy="431800"/>
          </a:xfrm>
          <a:prstGeom prst="roundRect">
            <a:avLst>
              <a:gd name="adj" fmla="val 0"/>
            </a:avLst>
          </a:prstGeom>
          <a:solidFill>
            <a:srgbClr val="2D6EAA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524000" y="38608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TAM · 27000 万户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397000" y="4394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A8C"/>
                </a:solidFill>
                <a:latin typeface="Noto Sans SC"/>
                <a:ea typeface="Noto Sans SC"/>
                <a:cs typeface="Noto Sans SC"/>
                <a:sym typeface="Noto Sans SC"/>
              </a:rPr>
              <a:t>SAM 可数字化</a:t>
            </a:r>
            <a:r>
              <a:rPr lang="en-US" sz="1400" b="0" i="0" u="none" strike="noStrike">
                <a:solidFill>
                  <a:srgbClr val="142D46"/>
                </a:solidFill>
                <a:latin typeface="Noto Sans SC"/>
                <a:ea typeface="Noto Sans SC"/>
                <a:cs typeface="Noto Sans SC"/>
                <a:sym typeface="Noto Sans SC"/>
              </a:rPr>
              <a:t>　· 18.5%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4724400"/>
            <a:ext cx="3048000" cy="431800"/>
          </a:xfrm>
          <a:prstGeom prst="roundRect">
            <a:avLst>
              <a:gd name="adj" fmla="val 0"/>
            </a:avLst>
          </a:prstGeom>
          <a:solidFill>
            <a:srgbClr val="3E82B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524000" y="48006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SAM · 5000 万户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397000" y="5283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05A8C"/>
                </a:solidFill>
                <a:latin typeface="Noto Sans SC"/>
                <a:ea typeface="Noto Sans SC"/>
                <a:cs typeface="Noto Sans SC"/>
                <a:sym typeface="Noto Sans SC"/>
              </a:rPr>
              <a:t>SOM 首年目标</a:t>
            </a:r>
            <a:r>
              <a:rPr lang="en-US" sz="1400" b="0" i="0" u="none" strike="noStrike">
                <a:solidFill>
                  <a:srgbClr val="142D46"/>
                </a:solidFill>
                <a:latin typeface="Noto Sans SC"/>
                <a:ea typeface="Noto Sans SC"/>
                <a:cs typeface="Noto Sans SC"/>
                <a:sym typeface="Noto Sans SC"/>
              </a:rPr>
              <a:t>　· 4.4%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97000" y="5588000"/>
            <a:ext cx="1905000" cy="381000"/>
          </a:xfrm>
          <a:prstGeom prst="roundRect">
            <a:avLst>
              <a:gd name="adj" fmla="val 0"/>
            </a:avLst>
          </a:prstGeom>
          <a:solidFill>
            <a:srgbClr val="185482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498600" y="56642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SOM · 1200 万户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366000" y="2616200"/>
            <a:ext cx="4826000" cy="345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宗族文化复兴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· 修谱、认亲、寻根需求回潮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数据与技术红利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· AI 识别、大模型、口述转写成熟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代际传承缺口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· 数字原住民需要新的家族记忆载体</a:t>
            </a:r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1016000" y="64262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来源：国家统计局家庭户规模 · 行业公开资料 · 团队测算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Market · 01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AAC8"/>
                </a:solidFill>
                <a:latin typeface="Noto Sans SC"/>
                <a:ea typeface="Noto Sans SC"/>
                <a:cs typeface="Noto Sans SC"/>
                <a:sym typeface="Noto Sans SC"/>
              </a:rPr>
              <a:t>PAIN · 02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今天修谱，仍是三代人的苦差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06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断裂的家族记忆，等待一次数字化接续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489200"/>
            <a:ext cx="3810000" cy="2857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53848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BED7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断裂的家族记忆（概念）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334000" y="2540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01 数字化编修难 · 手工誊录、修订无痕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334000" y="3048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02 信息更新滞后 · 迁移婚嫁难以及时入谱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334000" y="3556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03 个人资料难审定 · 传记不实、隐私缺机制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334000" y="4064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04 血缘关系难查 · 跨支脉关系难追溯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334000" y="4572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05 男女不平谱 · 女性难以上谱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334000" y="5080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06 史料难印证 · 与地方志、古籍难互证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6038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61976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六大痛点 · 团队调研 · 竞品功能对比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9144000" y="61976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Pain · 02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 · 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一套方案，三根支柱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65" b="65"/>
          <a:stretch>
            <a:fillRect/>
          </a:stretch>
        </p:blipFill>
        <p:spPr>
          <a:xfrm>
            <a:off x="762000" y="2413000"/>
            <a:ext cx="5334000" cy="29972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762000" y="54864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家族世系树（产品示意）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604000" y="25400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01 能考据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604000" y="32258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接入地方志、二十五史等古籍，家谱条目可溯源、可印证。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40132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02 会叙事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4699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把谱系与口述史整理成可读、可传的家族故事。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604000" y="5410200"/>
            <a:ext cx="549563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03 可对话</a:t>
            </a: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：家族数字人与后代问答，从「看到」到「问得到」。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三支柱方案 · 产品示意 · 填补华语史料考据空白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Solution · 03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POSITIONING · 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华语家谱，缺一个「史料可信」的答案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112" r="3110"/>
          <a:stretch>
            <a:fillRect/>
          </a:stretch>
        </p:blipFill>
        <p:spPr>
          <a:xfrm>
            <a:off x="6604000" y="2286000"/>
            <a:ext cx="5080000" cy="304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6604000" y="54102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古籍与数字考据（产品示意）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387600"/>
            <a:ext cx="5334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海外 MyHeritage 会修图、会认亲，却看不懂中国的地方志与二十五史。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40894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7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云科铭典把中文史料考据、情感叙事、家族对话合而为一，做出真正属于中文家庭的家族数字生命体。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1016008" y="532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A0D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 txBox="1"/>
          <p:nvPr/>
        </p:nvSpPr>
        <p:spPr>
          <a:xfrm>
            <a:off x="1016000" y="54864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一句话定位：能考据 · 会叙事 · 可对话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差异化：补齐华语史料考据空白 · 产品示意 · 竞品分析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Positioning · 04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AAC8"/>
                </a:solidFill>
                <a:latin typeface="Noto Sans SC"/>
                <a:ea typeface="Noto Sans SC"/>
                <a:cs typeface="Noto Sans SC"/>
                <a:sym typeface="Noto Sans SC"/>
              </a:rPr>
              <a:t>COMPETITIVE · 05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只有我们把「史料可信」做成标配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2235200"/>
          <a:ext cx="10160000" cy="360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4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大谱师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4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孝和云谱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4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MyHeritage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45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云科铭典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A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8DCE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录入效率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识谱减90%人工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口述AI转写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老照片修复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C8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编修+更新+审定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8DCE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史料考据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弱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弱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缺中文史料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C8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地方志+古籍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8DCE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家族叙事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版式丰富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LiveMemory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C8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口述史成故事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8DCE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家族对话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C8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家族数字人问答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8DCE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定价门槛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专业版980元起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服务型定价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B4CD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订阅制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8CC8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家庭订阅制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297">
            <a:off x="1016004" y="6038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6197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来源：各产品官网公开资料 · 团队调研 · 数据可溯源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9144000" y="61976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Competitive · 05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· 06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六大需求，一个产品闭环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286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01 数字化编修 · AI识谱、协同修谱、修订留痕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794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动态更新 · 人口、迁移、婚嫁实时入谱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302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03 资料审定 · 传记核验、隐私与授权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810000"/>
            <a:ext cx="546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B43C"/>
                </a:solidFill>
                <a:latin typeface="Noto Sans SC"/>
                <a:ea typeface="Noto Sans SC"/>
                <a:cs typeface="Noto Sans SC"/>
                <a:sym typeface="Noto Sans SC"/>
              </a:rPr>
              <a:t>04 血缘关系查询 · 任意两人一步算出称谓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42926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05 男女平等上谱 · 女性同样记录在册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48006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06 史料印证 · 与地方志、古籍互证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12490" r="12490"/>
          <a:stretch>
            <a:fillRect/>
          </a:stretch>
        </p:blipFill>
        <p:spPr>
          <a:xfrm>
            <a:off x="6731000" y="2286000"/>
            <a:ext cx="4572000" cy="3429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1" name="AutoShape 11"/>
          <p:cNvSpPr txBox="1"/>
          <p:nvPr/>
        </p:nvSpPr>
        <p:spPr>
          <a:xfrm>
            <a:off x="6731000" y="5791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BED7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· 任意两人关系查询（概念）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六大需求 + 任意两人关系查询 · 产品示意 · 用户调研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· 06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EXTENDED · 07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从家谱，到家族记忆守护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65" b="65"/>
          <a:stretch>
            <a:fillRect/>
          </a:stretch>
        </p:blipFill>
        <p:spPr>
          <a:xfrm>
            <a:off x="762000" y="2286000"/>
            <a:ext cx="5334000" cy="29972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762000" y="53594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家族记忆守护（产品示意）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604000" y="24892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口述史 · 记忆数字人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604000" y="30988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为长者录制口述史，经 AI 转写、整理、叙事化，留住一代人的声音与故事。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41910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数字分身 · 记忆数字人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4800600"/>
            <a:ext cx="533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基于口述与史料，构建可对话的记忆数字人，让后辈「问得到、记得住」祖辈。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549">
            <a:off x="6604009" y="570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A0D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 txBox="1"/>
          <p:nvPr/>
        </p:nvSpPr>
        <p:spPr>
          <a:xfrm>
            <a:off x="6604000" y="58166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以真实史料与授权为边界，让数字人可考据、可溯源。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进阶方向 · 二期产品能力 · 产品示意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Extended · 07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EXTENDED · 08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从记忆守护，到数字追思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006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进阶能力：让家族的每一份牵挂都有处安放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2489" r="12488"/>
          <a:stretch>
            <a:fillRect/>
          </a:stretch>
        </p:blipFill>
        <p:spPr>
          <a:xfrm>
            <a:off x="1016000" y="2489200"/>
            <a:ext cx="3810000" cy="2857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53848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BED7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线上祭祖 / 数字追思（概念）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207000" y="2489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6B43C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线上祭祖 / 数字追思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207000" y="30480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虚拟祠堂、先人纪念馆、纪念日提醒，远程献花留声，家族共祭寄托思念。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207000" y="3886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家族社群协作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207000" y="44450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认证家族圈层，修谱共祭协作，跨支脉联谱，让家族真正活跃起来。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07000" y="5283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家族知识库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207000" y="58420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口述史+史料沉淀为可问答的家族百科，记忆数字人持续对话陪伴。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进阶能力 · 二期产品规划 · 情感高频场景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Extended · 08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D2EB"/>
                </a:solidFill>
                <a:latin typeface="Noto Sans SC"/>
                <a:ea typeface="Noto Sans SC"/>
                <a:cs typeface="Noto Sans SC"/>
                <a:sym typeface="Noto Sans SC"/>
              </a:rPr>
              <a:t>FLYWHEEL · 08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一张越转越快的家族飞轮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615" r="10613"/>
          <a:stretch>
            <a:fillRect/>
          </a:stretch>
        </p:blipFill>
        <p:spPr>
          <a:xfrm>
            <a:off x="889000" y="2286000"/>
            <a:ext cx="5334000" cy="3810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889000" y="57404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家族记忆飞轮（概念）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8580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飞轮四步，自我增强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858000" y="2946400"/>
            <a:ext cx="482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7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 · 考据可信：史料为每条信息背书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7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 · 公信力：家族更愿意共建谱系</a:t>
            </a:r>
          </a:p>
          <a:p>
            <a:pPr marL="0" indent="0" algn="l">
              <a:lnSpc>
                <a:spcPct val="133333"/>
              </a:lnSpc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7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 · 数据资产：越聚越多、越来越准</a:t>
            </a:r>
          </a:p>
          <a:p>
            <a:pPr marL="0" indent="0" algn="l">
              <a:lnSpc>
                <a:spcPct val="133333"/>
              </a:lnSpc>
            </a:pPr>
            <a:r>
              <a:rPr lang="en-US" sz="17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700" b="0" i="0" u="none" strike="noStrike">
                <a:solidFill>
                  <a:srgbClr val="DCEBF8"/>
                </a:solidFill>
                <a:latin typeface="Noto Sans SC"/>
                <a:ea typeface="Noto Sans SC"/>
                <a:cs typeface="Noto Sans SC"/>
                <a:sym typeface="Noto Sans SC"/>
              </a:rPr>
              <a:t> · 反哺考据：数据反向提升能力</a:t>
            </a:r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CB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飞轮逻辑 · 团队商业模型设计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Flywheel · 08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AAC8"/>
                </a:solidFill>
                <a:latin typeface="Noto Sans SC"/>
                <a:ea typeface="Noto Sans SC"/>
                <a:cs typeface="Noto Sans SC"/>
                <a:sym typeface="Noto Sans SC"/>
              </a:rPr>
              <a:t>MONETIZATION · 09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三条腿变现，互不依赖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133600"/>
            <a:ext cx="3810000" cy="28575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50292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BED7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三腿商业版图（概念）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5207000" y="22352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C 端订阅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207000" y="2819400"/>
            <a:ext cx="660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家庭会员订阅，按谱系规模阶梯定价，覆盖编修、更新、审定与叙事。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207000" y="37084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机构服务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207000" y="4292600"/>
            <a:ext cx="660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面向宗族、祠堂、姓氏研究会，提供整套修谱与长期维护服务。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5207000" y="51816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B 端文旅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07000" y="5765800"/>
            <a:ext cx="660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学术出版、文旅体验、家谱数据服务，面向机构与内容合作方。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6451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三腿变现模型 · C端规模 · 机构背书 · B端高客单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144000" y="64516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Monetization · 09</a:t>
            </a:r>
            <a:endParaRPr lang="en-US"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AAC8"/>
                </a:solidFill>
                <a:latin typeface="Noto Sans SC"/>
                <a:ea typeface="Noto Sans SC"/>
                <a:cs typeface="Noto Sans SC"/>
                <a:sym typeface="Noto Sans SC"/>
              </a:rPr>
              <a:t>GO-TO-MARKET · 10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谁会用，从哪触达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5000" b="34998"/>
          <a:stretch>
            <a:fillRect/>
          </a:stretch>
        </p:blipFill>
        <p:spPr>
          <a:xfrm>
            <a:off x="1016000" y="2032000"/>
            <a:ext cx="10160000" cy="2286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4368800"/>
            <a:ext cx="1016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BED7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多元家庭世代（概念）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4800600"/>
            <a:ext cx="495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目标人群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2578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有修谱刚需的家族与宗族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关心家族史的中老年与长者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想记录口述、留住记忆的家庭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文旅、学术、文博等机构合作方</a:t>
            </a:r>
          </a:p>
        </p:txBody>
      </p:sp>
      <p:cxnSp>
        <p:nvCxnSpPr>
          <p:cNvPr id="8" name="Connector 8"/>
          <p:cNvCxnSpPr/>
          <p:nvPr/>
        </p:nvCxnSpPr>
        <p:spPr>
          <a:xfrm rot="5366297">
            <a:off x="5702300" y="54419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858000" y="4800600"/>
            <a:ext cx="495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获客渠道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858000" y="52578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宗族、祠堂、姓氏研究会合作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小红书 / 抖音家族史内容种草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口述史线下活动与社区运营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学术圈层与地方文化机构背书</a:t>
            </a: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人群与渠道规划 · 团队市场策略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GTM · 10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AAC8"/>
                </a:solidFill>
                <a:latin typeface="Noto Sans SC"/>
                <a:ea typeface="Noto Sans SC"/>
                <a:cs typeface="Noto Sans SC"/>
                <a:sym typeface="Noto Sans SC"/>
              </a:rPr>
              <a:t>ROADMAP · 11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三步走，先信任再生态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91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5AA0D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193800" y="2819400"/>
            <a:ext cx="203200" cy="203200"/>
          </a:xfrm>
          <a:prstGeom prst="ellipse">
            <a:avLst/>
          </a:prstGeom>
          <a:solidFill>
            <a:srgbClr val="5AA0D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302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一期 · 立信任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886200"/>
            <a:ext cx="3251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上线编修与史料考据，打通首个宗族样板，用可信度建立第一批付费用户。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78400" y="2819400"/>
            <a:ext cx="203200" cy="203200"/>
          </a:xfrm>
          <a:prstGeom prst="ellipse">
            <a:avLst/>
          </a:prstGeom>
          <a:solidFill>
            <a:srgbClr val="5AA0D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800600" y="3302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二期 · 留存传播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800600" y="3886200"/>
            <a:ext cx="3251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上线口述史与记忆数字人，靠情感叙事提升留存，借内容种草实现传播。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12200" y="2819400"/>
            <a:ext cx="203200" cy="203200"/>
          </a:xfrm>
          <a:prstGeom prst="ellipse">
            <a:avLst/>
          </a:prstGeom>
          <a:solidFill>
            <a:srgbClr val="5AA0DC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534400" y="3302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三期 · 生态变现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534400" y="3886200"/>
            <a:ext cx="3251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打开文旅、学术等 B 端空间，构建家族数据资产生态，放大飞轮。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297">
            <a:off x="1016004" y="6038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1016000" y="61976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三期分期规划 · 团队实施路线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9144000" y="61976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96B4"/>
                </a:solidFill>
                <a:latin typeface="Noto Sans SC"/>
                <a:ea typeface="Noto Sans SC"/>
                <a:cs typeface="Noto Sans SC"/>
                <a:sym typeface="Noto Sans SC"/>
              </a:rPr>
              <a:t>Roadmap · 11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60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2AAC8"/>
                </a:solidFill>
                <a:latin typeface="Noto Sans SC"/>
                <a:ea typeface="Noto Sans SC"/>
                <a:cs typeface="Noto Sans SC"/>
                <a:sym typeface="Noto Sans SC"/>
              </a:rPr>
              <a:t>TEAM · 12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2192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学术基因 + 智能工程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5000" b="34998"/>
          <a:stretch>
            <a:fillRect/>
          </a:stretch>
        </p:blipFill>
        <p:spPr>
          <a:xfrm>
            <a:off x="1016000" y="2032000"/>
            <a:ext cx="10160000" cy="2286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1016000" y="4368800"/>
            <a:ext cx="1016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BED7"/>
                </a:solidFill>
                <a:latin typeface="Noto Sans SC"/>
                <a:ea typeface="Noto Sans SC"/>
                <a:cs typeface="Noto Sans SC"/>
                <a:sym typeface="Noto Sans SC"/>
              </a:rPr>
              <a:t>FIGURE 1 · 学术基因与智能工程双轮（概念）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4826000"/>
            <a:ext cx="495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学术与史料能力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5308600"/>
            <a:ext cx="495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数据资产、历史文献研究背景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主持重大项目与专著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地方志、古籍智能体研发积累</a:t>
            </a:r>
          </a:p>
        </p:txBody>
      </p:sp>
      <p:cxnSp>
        <p:nvCxnSpPr>
          <p:cNvPr id="8" name="Connector 8"/>
          <p:cNvCxnSpPr/>
          <p:nvPr/>
        </p:nvCxnSpPr>
        <p:spPr>
          <a:xfrm rot="5369843">
            <a:off x="5626100" y="5543578"/>
            <a:ext cx="144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858000" y="4826000"/>
            <a:ext cx="495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6C8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智能与工程能力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858000" y="5308600"/>
            <a:ext cx="495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大模型、数字人、多模态工程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在线平台与智能体开发经验</a:t>
            </a:r>
          </a:p>
          <a:p>
            <a:pPr marL="0" indent="0" algn="l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B9D7EB"/>
                </a:solidFill>
                <a:latin typeface="Noto Sans SC"/>
                <a:ea typeface="Noto Sans SC"/>
                <a:cs typeface="Noto Sans SC"/>
                <a:sym typeface="Noto Sans SC"/>
              </a:rPr>
              <a:t>· 高校与企业联合研发资源</a:t>
            </a: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C64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6426200"/>
            <a:ext cx="711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团队构成 · 学术与工程双轮驱动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9144000" y="64262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AC8E1"/>
                </a:solidFill>
                <a:latin typeface="Noto Sans SC"/>
                <a:ea typeface="Noto Sans SC"/>
                <a:cs typeface="Noto Sans SC"/>
                <a:sym typeface="Noto Sans SC"/>
              </a:rPr>
              <a:t>Team · 12</a:t>
            </a:r>
            <a:endParaRPr lang="en-US" sz="11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1016000" y="1524000"/>
            <a:ext cx="1041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让每一段家族记忆，</a:t>
            </a:r>
            <a:endParaRPr lang="en-US" sz="1100"/>
          </a:p>
          <a:p>
            <a:pPr marL="0" indent="0" algn="l">
              <a:lnSpc>
                <a:spcPct val="91666"/>
              </a:lnSpc>
            </a:pPr>
            <a:r>
              <a:rPr lang="en-US" sz="5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都能被看见、被讲述、被记住。</a:t>
            </a:r>
          </a:p>
        </p:txBody>
      </p:sp>
      <p:cxnSp>
        <p:nvCxnSpPr>
          <p:cNvPr id="4" name="Connector 4"/>
          <p:cNvCxnSpPr/>
          <p:nvPr/>
        </p:nvCxnSpPr>
        <p:spPr>
          <a:xfrm rot="-17188">
            <a:off x="1016016" y="4184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A0C8F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1016000" y="4521200"/>
            <a:ext cx="1041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1F0FA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期待与各位一起，共建华语家族数字生命体。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教育智能体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73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12 个 · 本学期交付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4605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93800" y="16129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18796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语文学霸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93800" y="2286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张格源等 ｜ 学科答疑辅导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4605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71900" y="16129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71900" y="18796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数学学霸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71900" y="2286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郭祥旺等 ｜ 习题演算解析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4605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50000" y="16129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18796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外语学霸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0" y="2286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叶礼桐等 ｜ 听说读写提升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4605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928100" y="16129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28100" y="18796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化学学霸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928100" y="2286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陈毅等 ｜ 实验知识答疑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8956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93800" y="3048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93800" y="33147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生物学霸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93800" y="37211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何晗阅等 ｜ 知识点辅导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8956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71900" y="3048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71900" y="33147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地理学霸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71900" y="37211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刘诗儒等 ｜ 图表材料解析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8956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350000" y="3048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50000" y="33147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历史学霸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350000" y="37211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张宝宇等 ｜ 材料题辅导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8956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928100" y="30480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28100" y="33147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选科罗盘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928100" y="37211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王思涵等 ｜ 选科分析建议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43307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93800" y="44831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93800" y="47498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志愿通途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93800" y="5156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吴书琦等 ｜ 志愿填报参考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43307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71900" y="44831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71900" y="47498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留学咨询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71900" y="5156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佟奕辰 ｜ 留学规划咨询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43307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350000" y="44831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JY11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350000" y="47498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专升本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350000" y="5156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黄芮 ｜ 专升本备考辅导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750300" y="4330700"/>
            <a:ext cx="2425700" cy="1270000"/>
          </a:xfrm>
          <a:prstGeom prst="roundRect">
            <a:avLst>
              <a:gd name="adj" fmla="val 4000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 txBox="1"/>
          <p:nvPr/>
        </p:nvSpPr>
        <p:spPr>
          <a:xfrm>
            <a:off x="8928100" y="44831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JY12</a:t>
            </a:r>
            <a:endParaRPr lang="en-US" sz="1100"/>
          </a:p>
        </p:txBody>
      </p:sp>
      <p:sp>
        <p:nvSpPr>
          <p:cNvPr id="52" name="AutoShape 52"/>
          <p:cNvSpPr txBox="1"/>
          <p:nvPr/>
        </p:nvSpPr>
        <p:spPr>
          <a:xfrm>
            <a:off x="8928100" y="4749800"/>
            <a:ext cx="215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国际中文学习</a:t>
            </a:r>
            <a:endParaRPr lang="en-US" sz="1100"/>
          </a:p>
        </p:txBody>
      </p:sp>
      <p:sp>
        <p:nvSpPr>
          <p:cNvPr id="53" name="AutoShape 53"/>
          <p:cNvSpPr txBox="1"/>
          <p:nvPr/>
        </p:nvSpPr>
        <p:spPr>
          <a:xfrm>
            <a:off x="8928100" y="5156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文斐翡等4人 ｜ 国际中文</a:t>
            </a:r>
            <a:endParaRPr lang="en-US" sz="1100"/>
          </a:p>
        </p:txBody>
      </p:sp>
      <p:sp>
        <p:nvSpPr>
          <p:cNvPr id="54" name="AutoShape 54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12 / 23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教育智能体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子平台聚焦学科教学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学生 / 教师 / 家长账号体系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 / 调用配额 / 计费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教材库 / 题库 / 向量索引 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讲题流程 / 批改流 / 学情报告流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搜题 API / 公式渲染 / 画板工具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未成年人保护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内容过滤 / 时长管控 / 隐私合规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教育子平台 · 12 个智能体（教学场景）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学科辅导线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JY1-7 语文 / 数学 / 外语 / 理化生 / 史地学霸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升学规划线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高考志愿 / 选科指导 / 考研留学咨询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就业职业线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职业测评 / 简历优化 / 面试模拟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课程伴学线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/ 知识点拆解 / 错题本诊断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家校协同线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学情周报 / 家长沟通 / 成长档案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分工原则：基座不碰教学法与学科知识，子平台不重复造账号 / 未成年人保护框架，专注九科题库与升学就业场景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教育智能体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73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7 个 · 本学期交付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651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 txBox="1"/>
          <p:nvPr/>
        </p:nvSpPr>
        <p:spPr>
          <a:xfrm>
            <a:off x="1193800" y="1841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222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营养健康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93800" y="2730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周泽羽 ｜ 膳食营养科普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651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 txBox="1"/>
          <p:nvPr/>
        </p:nvSpPr>
        <p:spPr>
          <a:xfrm>
            <a:off x="3771900" y="1841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71900" y="222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运动场馆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71900" y="2730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周泽羽 ｜ 运动方案科普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651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350000" y="1841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222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智能导诊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0" y="2730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陈律威 ｜ 就医指引科普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651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 txBox="1"/>
          <p:nvPr/>
        </p:nvSpPr>
        <p:spPr>
          <a:xfrm>
            <a:off x="8928100" y="1841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28100" y="222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医美科普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928100" y="2730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黄锦 ｜ 医美风险科普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3556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 txBox="1"/>
          <p:nvPr/>
        </p:nvSpPr>
        <p:spPr>
          <a:xfrm>
            <a:off x="1193800" y="3746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93800" y="4127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穿衣有道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93800" y="4635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吴真颖等 ｜ 穿搭搭配参考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3556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 txBox="1"/>
          <p:nvPr/>
        </p:nvSpPr>
        <p:spPr>
          <a:xfrm>
            <a:off x="3771900" y="3746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71900" y="4127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健康数据挖掘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71900" y="4635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陈律威 ｜ 健康报告素材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3556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 txBox="1"/>
          <p:nvPr/>
        </p:nvSpPr>
        <p:spPr>
          <a:xfrm>
            <a:off x="6350000" y="37465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JK7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50000" y="4127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心理健康科普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350000" y="46355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晁晨刚 ｜ 心理科普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3556000"/>
            <a:ext cx="2425700" cy="165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 txBox="1"/>
          <p:nvPr/>
        </p:nvSpPr>
        <p:spPr>
          <a:xfrm>
            <a:off x="8953500" y="38100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定位边界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53500" y="4191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全生命周期健康科普，不作医疗诊断；引导就医，不开处方。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13 / 23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子平台聚焦健康科普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用户账号 / 健康档案分级授权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 / 长上下文 / 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医学知识库服务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指南库 / 药品库 / 向量 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分诊流 / 报告解读流 / 随访流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医院挂号 / OCR 化验单 / 计步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医疗合规与免责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风险提示 / 不诊断声明 / 数据脱敏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健康子平台 · 7 个智能体（科普服务）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生活方式线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JK1 营养膳食 · JK2 运动场馆 · JK5 穿搭参考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就医指引线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JK3 智能导诊 · 科室分诊 · 就诊流程指引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医美心理线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JK4 医美风险科普 · JK7 心理健康科普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JK6 体检报告 / 健康数据可视化解读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公益科普线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疾病预防 / 健康宣教 · 不替代医生诊疗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分工原则：基座统一医疗合规与免责框架，子平台只做科普与指引，不做诊断处方；涉及诊疗必须转人工医院</a:t>
            </a:r>
            <a:endParaRPr lang="en-US" sz="11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企业智能体 · 战略部署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73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专项资助 16 大核心模块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71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93800" y="1498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1752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上市公司综合服务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93800" y="2044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陈奥运 ｜ 动态分析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71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71900" y="1498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71900" y="1752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专精特新赋能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71900" y="2044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郭嘉铭 ｜ 培育路径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71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50000" y="1498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1752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中小企业普惠政策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0" y="2044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桂安雅 ｜ 政策适配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716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928100" y="14986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28100" y="1752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科技型中小企业培育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928100" y="20447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陈奥运 ｜ 梯度方案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489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93800" y="2616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93800" y="2870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企业公开数据查询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93800" y="3162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蒋云龙 ｜ 数据检索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489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71900" y="2616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71900" y="2870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企业经营诊断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71900" y="3162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龚欣仪 ｜ 问题识别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489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350000" y="2616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50000" y="2870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企业政策匹配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350000" y="3162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蒋云龙 ｜ 惠企匹配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4892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928100" y="26162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28100" y="28702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企业投融资对接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928100" y="31623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李晓倩 ｜ 融资对接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3606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93800" y="3733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QY09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93800" y="3987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企业知识产权服务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93800" y="4279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郭嘉铭 ｜ 知产管理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3606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71900" y="3733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71900" y="3987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知产质押融资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71900" y="4279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薛梦娇/冯晟铭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3606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350000" y="3733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350000" y="3987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企业合规自查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350000" y="4279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黄如颜/张伟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750300" y="36068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 txBox="1"/>
          <p:nvPr/>
        </p:nvSpPr>
        <p:spPr>
          <a:xfrm>
            <a:off x="8928100" y="37338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QY12</a:t>
            </a:r>
            <a:endParaRPr lang="en-US" sz="1100"/>
          </a:p>
        </p:txBody>
      </p:sp>
      <p:sp>
        <p:nvSpPr>
          <p:cNvPr id="52" name="AutoShape 52"/>
          <p:cNvSpPr txBox="1"/>
          <p:nvPr/>
        </p:nvSpPr>
        <p:spPr>
          <a:xfrm>
            <a:off x="8928100" y="39878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无效专利价值挖掘</a:t>
            </a:r>
            <a:endParaRPr lang="en-US" sz="1100"/>
          </a:p>
        </p:txBody>
      </p:sp>
      <p:sp>
        <p:nvSpPr>
          <p:cNvPr id="53" name="AutoShape 53"/>
          <p:cNvSpPr txBox="1"/>
          <p:nvPr/>
        </p:nvSpPr>
        <p:spPr>
          <a:xfrm>
            <a:off x="8928100" y="42799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陈泳麟 ｜ 沉睡盘活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1016000" y="47244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 txBox="1"/>
          <p:nvPr/>
        </p:nvSpPr>
        <p:spPr>
          <a:xfrm>
            <a:off x="1193800" y="48514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QY13</a:t>
            </a:r>
            <a:endParaRPr lang="en-US" sz="1100"/>
          </a:p>
        </p:txBody>
      </p:sp>
      <p:sp>
        <p:nvSpPr>
          <p:cNvPr id="56" name="AutoShape 56"/>
          <p:cNvSpPr txBox="1"/>
          <p:nvPr/>
        </p:nvSpPr>
        <p:spPr>
          <a:xfrm>
            <a:off x="1193800" y="5105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出海知产护航</a:t>
            </a:r>
            <a:endParaRPr lang="en-US" sz="1100"/>
          </a:p>
        </p:txBody>
      </p:sp>
      <p:sp>
        <p:nvSpPr>
          <p:cNvPr id="57" name="AutoShape 57"/>
          <p:cNvSpPr txBox="1"/>
          <p:nvPr/>
        </p:nvSpPr>
        <p:spPr>
          <a:xfrm>
            <a:off x="1193800" y="53975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杨谨麟 ｜ 海外预警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3594100" y="47244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 txBox="1"/>
          <p:nvPr/>
        </p:nvSpPr>
        <p:spPr>
          <a:xfrm>
            <a:off x="3771900" y="48514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QY14</a:t>
            </a:r>
            <a:endParaRPr lang="en-US" sz="1100"/>
          </a:p>
        </p:txBody>
      </p:sp>
      <p:sp>
        <p:nvSpPr>
          <p:cNvPr id="60" name="AutoShape 60"/>
          <p:cNvSpPr txBox="1"/>
          <p:nvPr/>
        </p:nvSpPr>
        <p:spPr>
          <a:xfrm>
            <a:off x="3771900" y="5105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校企项目平台</a:t>
            </a:r>
            <a:endParaRPr lang="en-US" sz="1100"/>
          </a:p>
        </p:txBody>
      </p:sp>
      <p:sp>
        <p:nvSpPr>
          <p:cNvPr id="61" name="AutoShape 61"/>
          <p:cNvSpPr txBox="1"/>
          <p:nvPr/>
        </p:nvSpPr>
        <p:spPr>
          <a:xfrm>
            <a:off x="3771900" y="53975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慕锦沛 ｜ 项目对接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6172200" y="47244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 txBox="1"/>
          <p:nvPr/>
        </p:nvSpPr>
        <p:spPr>
          <a:xfrm>
            <a:off x="6350000" y="48514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QY15</a:t>
            </a:r>
            <a:endParaRPr lang="en-US" sz="1100"/>
          </a:p>
        </p:txBody>
      </p:sp>
      <p:sp>
        <p:nvSpPr>
          <p:cNvPr id="64" name="AutoShape 64"/>
          <p:cNvSpPr txBox="1"/>
          <p:nvPr/>
        </p:nvSpPr>
        <p:spPr>
          <a:xfrm>
            <a:off x="6350000" y="5105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校企合作平台</a:t>
            </a:r>
            <a:endParaRPr lang="en-US" sz="1100"/>
          </a:p>
        </p:txBody>
      </p:sp>
      <p:sp>
        <p:nvSpPr>
          <p:cNvPr id="65" name="AutoShape 65"/>
          <p:cNvSpPr txBox="1"/>
          <p:nvPr/>
        </p:nvSpPr>
        <p:spPr>
          <a:xfrm>
            <a:off x="6350000" y="53975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龚欣仪 ｜ 合作推进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8750300" y="47244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 txBox="1"/>
          <p:nvPr/>
        </p:nvSpPr>
        <p:spPr>
          <a:xfrm>
            <a:off x="8928100" y="48514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QY16</a:t>
            </a:r>
            <a:endParaRPr lang="en-US" sz="1100"/>
          </a:p>
        </p:txBody>
      </p:sp>
      <p:sp>
        <p:nvSpPr>
          <p:cNvPr id="68" name="AutoShape 68"/>
          <p:cNvSpPr txBox="1"/>
          <p:nvPr/>
        </p:nvSpPr>
        <p:spPr>
          <a:xfrm>
            <a:off x="8928100" y="5105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校企资源平台</a:t>
            </a:r>
            <a:endParaRPr lang="en-US" sz="1100"/>
          </a:p>
        </p:txBody>
      </p:sp>
      <p:sp>
        <p:nvSpPr>
          <p:cNvPr id="69" name="AutoShape 69"/>
          <p:cNvSpPr txBox="1"/>
          <p:nvPr/>
        </p:nvSpPr>
        <p:spPr>
          <a:xfrm>
            <a:off x="8928100" y="5397500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桂安雅 ｜ 资源汇聚</a:t>
            </a:r>
            <a:endParaRPr lang="en-US" sz="1100"/>
          </a:p>
        </p:txBody>
      </p:sp>
      <p:sp>
        <p:nvSpPr>
          <p:cNvPr id="70" name="AutoShape 70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14 / 23</a:t>
            </a:r>
            <a:endParaRPr lang="en-US" sz="11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专项资助重点 · 子平台聚焦企业服务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企业实名 / 组织账号 / 多角色权限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 / 长文档 / 批量配额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企业数据服务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工商库 / 政策库 / 向量 RAG 检索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申报流 / 诊断流 / 政策匹配流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企查查 / 税务 / 招投标 API 对接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企业数据合规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商业秘密 / 脱敏 / 调用审计留痕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企业子平台 · 16 个智能体（企业实务）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企业画像线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QY05 公开数据查询 · QY06 经营诊断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政策服务线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QY03 普惠政策 · QY04 梯度培育 · QY07 政策匹配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上市专精线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QY01 上市公司综合服务 · QY02 专精特新培育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融资对接线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QY08-11 投融资匹配 / 资本对接 / 估值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产业协同线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QY12-16 产业链 / 供需对接 / 落地孵化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分工原则：基座统一企业实名与商业秘密保护，子平台不重复造工商 / 政策库，专注企业诊断、申报与对接场景</a:t>
            </a:r>
            <a:endParaRPr lang="en-US" sz="11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7366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17 个 · 含课程团队 15 个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335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93800" y="14351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16637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高质量数据集检索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93800" y="19431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杨锴｜全国数据集目录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335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71900" y="14351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71900" y="16637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农业产业数据研判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71900" y="19431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张旭｜产业数据专题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335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50000" y="14351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16637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数据采集助手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350000" y="19431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课程团队｜多源数据采集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335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928100" y="14351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928100" y="16637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数据质量诊断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928100" y="19431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课程团队｜完整性准确性检测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3241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93800" y="24257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93800" y="26543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元数据管理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93800" y="29337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课程团队｜元数据标准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3241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71900" y="24257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71900" y="26543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主数据清洗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71900" y="29337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课程团队｜去重补缺纠错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3241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350000" y="24257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350000" y="26543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数据标准制定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350000" y="29337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课程团队｜标准规范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3241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928100" y="24257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928100" y="26543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数据分级分类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928100" y="29337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课程团队｜分类分级标签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33147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93800" y="34163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SJ09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93800" y="36449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数据脱敏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93800" y="39243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课程团队｜敏感数据脱敏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33147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71900" y="34163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71900" y="36449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权限访问控制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71900" y="39243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课程团队｜RBAC权限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33147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350000" y="34163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350000" y="36449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数据安全审计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350000" y="39243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课程团队｜操作日志审计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750300" y="33147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 txBox="1"/>
          <p:nvPr/>
        </p:nvSpPr>
        <p:spPr>
          <a:xfrm>
            <a:off x="8928100" y="34163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SJ12</a:t>
            </a:r>
            <a:endParaRPr lang="en-US" sz="1100"/>
          </a:p>
        </p:txBody>
      </p:sp>
      <p:sp>
        <p:nvSpPr>
          <p:cNvPr id="52" name="AutoShape 52"/>
          <p:cNvSpPr txBox="1"/>
          <p:nvPr/>
        </p:nvSpPr>
        <p:spPr>
          <a:xfrm>
            <a:off x="8928100" y="36449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数据加密</a:t>
            </a:r>
            <a:endParaRPr lang="en-US" sz="1100"/>
          </a:p>
        </p:txBody>
      </p:sp>
      <p:sp>
        <p:nvSpPr>
          <p:cNvPr id="53" name="AutoShape 53"/>
          <p:cNvSpPr txBox="1"/>
          <p:nvPr/>
        </p:nvSpPr>
        <p:spPr>
          <a:xfrm>
            <a:off x="8928100" y="39243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课程团队｜加密存储传输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1016000" y="43053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 txBox="1"/>
          <p:nvPr/>
        </p:nvSpPr>
        <p:spPr>
          <a:xfrm>
            <a:off x="1193800" y="44069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SJ13</a:t>
            </a:r>
            <a:endParaRPr lang="en-US" sz="1100"/>
          </a:p>
        </p:txBody>
      </p:sp>
      <p:sp>
        <p:nvSpPr>
          <p:cNvPr id="56" name="AutoShape 56"/>
          <p:cNvSpPr txBox="1"/>
          <p:nvPr/>
        </p:nvSpPr>
        <p:spPr>
          <a:xfrm>
            <a:off x="1193800" y="4635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数据建模设计</a:t>
            </a:r>
            <a:endParaRPr lang="en-US" sz="1100"/>
          </a:p>
        </p:txBody>
      </p:sp>
      <p:sp>
        <p:nvSpPr>
          <p:cNvPr id="57" name="AutoShape 57"/>
          <p:cNvSpPr txBox="1"/>
          <p:nvPr/>
        </p:nvSpPr>
        <p:spPr>
          <a:xfrm>
            <a:off x="1193800" y="49149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课程团队｜数据模型设计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3594100" y="43053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 txBox="1"/>
          <p:nvPr/>
        </p:nvSpPr>
        <p:spPr>
          <a:xfrm>
            <a:off x="3771900" y="44069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SJ14</a:t>
            </a:r>
            <a:endParaRPr lang="en-US" sz="1100"/>
          </a:p>
        </p:txBody>
      </p:sp>
      <p:sp>
        <p:nvSpPr>
          <p:cNvPr id="60" name="AutoShape 60"/>
          <p:cNvSpPr txBox="1"/>
          <p:nvPr/>
        </p:nvSpPr>
        <p:spPr>
          <a:xfrm>
            <a:off x="3771900" y="4635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数据资产目录</a:t>
            </a:r>
            <a:endParaRPr lang="en-US" sz="1100"/>
          </a:p>
        </p:txBody>
      </p:sp>
      <p:sp>
        <p:nvSpPr>
          <p:cNvPr id="61" name="AutoShape 61"/>
          <p:cNvSpPr txBox="1"/>
          <p:nvPr/>
        </p:nvSpPr>
        <p:spPr>
          <a:xfrm>
            <a:off x="3771900" y="49149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课程团队｜资产编目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6172200" y="43053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 txBox="1"/>
          <p:nvPr/>
        </p:nvSpPr>
        <p:spPr>
          <a:xfrm>
            <a:off x="6350000" y="44069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SJ15</a:t>
            </a:r>
            <a:endParaRPr lang="en-US" sz="1100"/>
          </a:p>
        </p:txBody>
      </p:sp>
      <p:sp>
        <p:nvSpPr>
          <p:cNvPr id="64" name="AutoShape 64"/>
          <p:cNvSpPr txBox="1"/>
          <p:nvPr/>
        </p:nvSpPr>
        <p:spPr>
          <a:xfrm>
            <a:off x="6350000" y="4635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数据API生成</a:t>
            </a:r>
            <a:endParaRPr lang="en-US" sz="1100"/>
          </a:p>
        </p:txBody>
      </p:sp>
      <p:sp>
        <p:nvSpPr>
          <p:cNvPr id="65" name="AutoShape 65"/>
          <p:cNvSpPr txBox="1"/>
          <p:nvPr/>
        </p:nvSpPr>
        <p:spPr>
          <a:xfrm>
            <a:off x="6350000" y="49149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课程团队｜接口自动生成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8750300" y="43053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 txBox="1"/>
          <p:nvPr/>
        </p:nvSpPr>
        <p:spPr>
          <a:xfrm>
            <a:off x="8928100" y="44069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SJ16</a:t>
            </a:r>
            <a:endParaRPr lang="en-US" sz="1100"/>
          </a:p>
        </p:txBody>
      </p:sp>
      <p:sp>
        <p:nvSpPr>
          <p:cNvPr id="68" name="AutoShape 68"/>
          <p:cNvSpPr txBox="1"/>
          <p:nvPr/>
        </p:nvSpPr>
        <p:spPr>
          <a:xfrm>
            <a:off x="8928100" y="46355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数据产品包装</a:t>
            </a:r>
            <a:endParaRPr lang="en-US" sz="1100"/>
          </a:p>
        </p:txBody>
      </p:sp>
      <p:sp>
        <p:nvSpPr>
          <p:cNvPr id="69" name="AutoShape 69"/>
          <p:cNvSpPr txBox="1"/>
          <p:nvPr/>
        </p:nvSpPr>
        <p:spPr>
          <a:xfrm>
            <a:off x="8928100" y="49149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课程团队｜产品化封装</a:t>
            </a:r>
            <a:endParaRPr lang="en-US" sz="1100"/>
          </a:p>
        </p:txBody>
      </p:sp>
      <p:sp>
        <p:nvSpPr>
          <p:cNvPr id="70" name="AutoShape 70"/>
          <p:cNvSpPr/>
          <p:nvPr/>
        </p:nvSpPr>
        <p:spPr>
          <a:xfrm>
            <a:off x="1016000" y="5295900"/>
            <a:ext cx="2425700" cy="889000"/>
          </a:xfrm>
          <a:prstGeom prst="roundRect">
            <a:avLst>
              <a:gd name="adj" fmla="val 571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1" name="AutoShape 71"/>
          <p:cNvSpPr txBox="1"/>
          <p:nvPr/>
        </p:nvSpPr>
        <p:spPr>
          <a:xfrm>
            <a:off x="1193800" y="53975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SJ17</a:t>
            </a:r>
            <a:endParaRPr lang="en-US" sz="1100"/>
          </a:p>
        </p:txBody>
      </p:sp>
      <p:sp>
        <p:nvSpPr>
          <p:cNvPr id="72" name="AutoShape 72"/>
          <p:cNvSpPr txBox="1"/>
          <p:nvPr/>
        </p:nvSpPr>
        <p:spPr>
          <a:xfrm>
            <a:off x="1193800" y="5626100"/>
            <a:ext cx="2171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数据交易撮合</a:t>
            </a:r>
            <a:endParaRPr lang="en-US" sz="1100"/>
          </a:p>
        </p:txBody>
      </p:sp>
      <p:sp>
        <p:nvSpPr>
          <p:cNvPr id="73" name="AutoShape 73"/>
          <p:cNvSpPr txBox="1"/>
          <p:nvPr/>
        </p:nvSpPr>
        <p:spPr>
          <a:xfrm>
            <a:off x="1193800" y="5905500"/>
            <a:ext cx="21717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课程团队｜供需匹配</a:t>
            </a:r>
            <a:endParaRPr lang="en-US" sz="11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子平台聚焦数据要素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企业/学生/律师分级授权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多模型路由/长文档/配额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法规专利库服务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法规/专利/案例全文RAG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审查流/申报流/流程自动化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国知局/海关/API对接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专业合规复核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律师/代理所复核/留痕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数据子平台 · 17 个智能体（数据全生命周期）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数据采集与质量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SJ03-07｜采集/质量/元数据/清洗/标准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数据存储与安全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SJ08-12｜分级分类/脱敏/权限/审计/加密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数据处理与共享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SJ13-17｜建模/目录/API/产品/交易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核心数据服务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SJ01 数据集检索 · SJ02 产业研判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课程团队产出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硕士数据治理课程随教学产出15个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分工原则：基座统一数据安全与合规框架，子平台不重复造数据标准，专注数据要素流通与治理场景</a:t>
            </a:r>
            <a:endParaRPr lang="en-US" sz="11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7366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35 个 · 原6+课程29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专利交底书生成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陈果傲/雷婧文｜技术交底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211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211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高价值专利筛选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211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夏睿遥/罗子强｜价值评估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992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2992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论文专利挖掘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2992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蒋欣宇｜成果转化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773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8773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专利年费提醒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8773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张海｜年费节点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430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430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专利分析(本科)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430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课程团队｜专利字段/权利要求拆解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211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211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专利网络分析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211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课程团队｜引文网络/发明人关系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2992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2992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专利可视化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2992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课程团队｜专利地图/仪表盘/趋势图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8773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8773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专利申请实务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8773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课程团队｜全流程/审查意见答复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430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ZS09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430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维权诉讼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430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课程团队｜侵权比对/赔偿测算/证据保全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211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211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运营管理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211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课程团队｜IP体检/导航/许可/质押融资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2992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ZS11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2992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教学辅助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2992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课程团队｜教材案例/作业辅导/术语表</a:t>
            </a:r>
            <a:endParaRPr lang="en-US" sz="1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子平台聚焦专利全周期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企业/学生/律师分级授权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多模型路由/长文档/配额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法规专利库服务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法规/专利/案例全文RAG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审查流/申报流/流程自动化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国知局/海关/API对接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专业合规复核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律师/代理所复核/留痕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知产子平台 · 35 个智能体（专利申请/维权/运营）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专利分析线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ZS05-07｜字段/权利要求/网络分析/可视化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申请实务线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ZS01/ZS08｜交底书/全流程/审查答复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维权诉讼线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ZS09｜侵权比对/赔偿/证据保全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运营管理线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ZS02/ZS04/ZS10｜筛选/年费/导航/质押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教学辅助线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ZS11｜本科+硕士知产课程随教学产出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分工原则：基座统一法规专利库与律师复核，子平台不重复造检索引擎，专注专利申请-维权-运营实务；涉外部分已划入国际知产</a:t>
            </a:r>
            <a:endParaRPr lang="en-US" sz="11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法律智能体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7366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4 个 · 公益普法教学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FL01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法律咨询助手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公益普法｜法律问题解答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211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FL02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211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合同审查助手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211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合同条款｜风险点识别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992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FL03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2992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类案检索助手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2992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案例库｜类案推送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773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FL04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8773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法律文书生成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8773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起诉状/答辩状｜文书辅助</a:t>
            </a:r>
            <a:endParaRPr lang="en-US" sz="1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法律智能体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基座统一供给 · 子平台聚焦公益普法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企业/学生/律师分级授权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多模型路由/长文档/配额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法规专利库服务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法规/专利/案例全文RAG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审查流/申报流/流程自动化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国知局/海关/API对接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专业合规复核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律师/代理所复核/留痕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法律子平台 · 4 个智能体（教学/公益）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法律咨询线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FL01｜公益普法问答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合同审查线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FL02｜合同条款风险识别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类案检索线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FL03｜案例库类案推送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文书生成线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FL04｜起诉状/答辩状辅助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边界声明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不做企业实务，企业法务归企业大类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分工原则：剥离企业实务属性归集企业大类，本类聚焦科研、教学、公益普法；专业意见须经执业律师复核</a:t>
            </a:r>
            <a:endParaRPr lang="en-US" sz="11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法律智能体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国际知识产权智能体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7366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13 个 · 原5+课程8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PCT申请辅助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陈扬｜PCT流程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211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211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海外专利无效抗辩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211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晁晨刚｜抗辩支撑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992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2992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海外参展风险预警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2992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刘永丽｜参展风险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773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8773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国际知产合同审查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8773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冯文舒｜涉外审查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430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430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海外政策动态监测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430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张佳俊｜政策追踪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211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211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FTA条款比对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211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课程团队｜自贸区条款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2992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2992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TRIPS条款解读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2992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课程团队｜灵活性条款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8773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8773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出海知产环境速查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8773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课程团队｜各国环境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430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IP09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430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制度转换案例库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430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课程团队｜案例积累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211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211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海外维权应诉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211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课程团队｜诉讼应对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2992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2992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海牙外观设计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2992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课程团队｜国际外观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7503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 txBox="1"/>
          <p:nvPr/>
        </p:nvSpPr>
        <p:spPr>
          <a:xfrm>
            <a:off x="88773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IP12</a:t>
            </a:r>
            <a:endParaRPr lang="en-US" sz="1100"/>
          </a:p>
        </p:txBody>
      </p:sp>
      <p:sp>
        <p:nvSpPr>
          <p:cNvPr id="52" name="AutoShape 52"/>
          <p:cNvSpPr txBox="1"/>
          <p:nvPr/>
        </p:nvSpPr>
        <p:spPr>
          <a:xfrm>
            <a:off x="88773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海关IP备案</a:t>
            </a:r>
            <a:endParaRPr lang="en-US" sz="1100"/>
          </a:p>
        </p:txBody>
      </p:sp>
      <p:sp>
        <p:nvSpPr>
          <p:cNvPr id="53" name="AutoShape 53"/>
          <p:cNvSpPr txBox="1"/>
          <p:nvPr/>
        </p:nvSpPr>
        <p:spPr>
          <a:xfrm>
            <a:off x="88773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课程团队｜边境措施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1016000" y="45339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 txBox="1"/>
          <p:nvPr/>
        </p:nvSpPr>
        <p:spPr>
          <a:xfrm>
            <a:off x="1143000" y="46101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IP13</a:t>
            </a:r>
            <a:endParaRPr lang="en-US" sz="1100"/>
          </a:p>
        </p:txBody>
      </p:sp>
      <p:sp>
        <p:nvSpPr>
          <p:cNvPr id="56" name="AutoShape 56"/>
          <p:cNvSpPr txBox="1"/>
          <p:nvPr/>
        </p:nvSpPr>
        <p:spPr>
          <a:xfrm>
            <a:off x="1143000" y="48133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FTO出海排查</a:t>
            </a:r>
            <a:endParaRPr lang="en-US" sz="1100"/>
          </a:p>
        </p:txBody>
      </p:sp>
      <p:sp>
        <p:nvSpPr>
          <p:cNvPr id="57" name="AutoShape 57"/>
          <p:cNvSpPr txBox="1"/>
          <p:nvPr/>
        </p:nvSpPr>
        <p:spPr>
          <a:xfrm>
            <a:off x="1143000" y="50419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课程团队｜自由实施分析</a:t>
            </a:r>
            <a:endParaRPr lang="en-US" sz="11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国际知产智能体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对接TOT团队 · 子平台聚焦涉外知产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企业/学生/律师分级授权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多模型路由/长文档/配额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法规专利库服务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法规/专利/案例全文RAG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审查流/申报流/流程自动化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国知局/海关/API对接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专业合规复核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律师/代理所复核/留痕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国际知产子平台 · 13 个智能体（出海知产）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PCT申请线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IP01｜PCT流程/国家阶段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海外维权线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IP02/IP10｜无效抗辩/应诉/参展预警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涉外合同法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IP04｜国际合同审查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国际规则线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IP05-09｜政策监测/FTA/TRIPS/出海环境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出海工具线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IP11-13｜海牙外观/海关备案/FTO排查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分工原则：基座统一多语言与海外法规库，知产类中国际部分全部归集于此，专注PCT与海外维权实务</a:t>
            </a:r>
            <a:endParaRPr lang="en-US" sz="11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国际知产智能体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跨境数字贸易智能体 · 任务部署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7366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本期 30 个 · 原5+课程25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重要数据识别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课程团队｜数据分类分级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941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7211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7211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数据出境路径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211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课程团队｜出境渠道选择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992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2992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GDPR合规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2992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课程团队｜欧盟条例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50300" y="13335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77300" y="14097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877300" y="16129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数据信托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877300" y="18415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课程团队｜信托架构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1430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KJ05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1430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出境安全评估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1430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课程团队｜申报流程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941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37211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KJ06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37211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数据合规体检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37211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课程团队｜合规诊断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722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2992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KJ07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2992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隐私政策审查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2992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课程团队｜政策文本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50300" y="24003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8877300" y="24765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KJ08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8877300" y="26797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算法影响评估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8877300" y="29083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课程团队｜AIA/DPIA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11430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KJ09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11430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DEPA/RCEP规则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1430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课程团队｜区域协定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5941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37211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KJ10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37211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跨境执法协作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37211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课程团队｜国际协作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1722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7" name="AutoShape 47"/>
          <p:cNvSpPr txBox="1"/>
          <p:nvPr/>
        </p:nvSpPr>
        <p:spPr>
          <a:xfrm>
            <a:off x="62992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KJ11</a:t>
            </a:r>
            <a:endParaRPr lang="en-US" sz="1100"/>
          </a:p>
        </p:txBody>
      </p:sp>
      <p:sp>
        <p:nvSpPr>
          <p:cNvPr id="48" name="AutoShape 48"/>
          <p:cNvSpPr txBox="1"/>
          <p:nvPr/>
        </p:nvSpPr>
        <p:spPr>
          <a:xfrm>
            <a:off x="62992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数据诉讼状稿</a:t>
            </a:r>
            <a:endParaRPr lang="en-US" sz="1100"/>
          </a:p>
        </p:txBody>
      </p:sp>
      <p:sp>
        <p:nvSpPr>
          <p:cNvPr id="49" name="AutoShape 49"/>
          <p:cNvSpPr txBox="1"/>
          <p:nvPr/>
        </p:nvSpPr>
        <p:spPr>
          <a:xfrm>
            <a:off x="62992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课程团队｜争议解决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750300" y="34671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1" name="AutoShape 51"/>
          <p:cNvSpPr txBox="1"/>
          <p:nvPr/>
        </p:nvSpPr>
        <p:spPr>
          <a:xfrm>
            <a:off x="8877300" y="35433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KJ12</a:t>
            </a:r>
            <a:endParaRPr lang="en-US" sz="1100"/>
          </a:p>
        </p:txBody>
      </p:sp>
      <p:sp>
        <p:nvSpPr>
          <p:cNvPr id="52" name="AutoShape 52"/>
          <p:cNvSpPr txBox="1"/>
          <p:nvPr/>
        </p:nvSpPr>
        <p:spPr>
          <a:xfrm>
            <a:off x="8877300" y="37465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天价罚单案例库</a:t>
            </a:r>
            <a:endParaRPr lang="en-US" sz="1100"/>
          </a:p>
        </p:txBody>
      </p:sp>
      <p:sp>
        <p:nvSpPr>
          <p:cNvPr id="53" name="AutoShape 53"/>
          <p:cNvSpPr txBox="1"/>
          <p:nvPr/>
        </p:nvSpPr>
        <p:spPr>
          <a:xfrm>
            <a:off x="8877300" y="39751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课程团队｜Meta 12亿等案例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1016000" y="45339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5" name="AutoShape 55"/>
          <p:cNvSpPr txBox="1"/>
          <p:nvPr/>
        </p:nvSpPr>
        <p:spPr>
          <a:xfrm>
            <a:off x="1143000" y="46101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KJ13</a:t>
            </a:r>
            <a:endParaRPr lang="en-US" sz="1100"/>
          </a:p>
        </p:txBody>
      </p:sp>
      <p:sp>
        <p:nvSpPr>
          <p:cNvPr id="56" name="AutoShape 56"/>
          <p:cNvSpPr txBox="1"/>
          <p:nvPr/>
        </p:nvSpPr>
        <p:spPr>
          <a:xfrm>
            <a:off x="1143000" y="48133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全球南方规制</a:t>
            </a:r>
            <a:endParaRPr lang="en-US" sz="1100"/>
          </a:p>
        </p:txBody>
      </p:sp>
      <p:sp>
        <p:nvSpPr>
          <p:cNvPr id="57" name="AutoShape 57"/>
          <p:cNvSpPr txBox="1"/>
          <p:nvPr/>
        </p:nvSpPr>
        <p:spPr>
          <a:xfrm>
            <a:off x="1143000" y="50419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课程团队｜发展中国家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3594100" y="45339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9" name="AutoShape 59"/>
          <p:cNvSpPr txBox="1"/>
          <p:nvPr/>
        </p:nvSpPr>
        <p:spPr>
          <a:xfrm>
            <a:off x="3721100" y="46101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KJ14</a:t>
            </a:r>
            <a:endParaRPr lang="en-US" sz="1100"/>
          </a:p>
        </p:txBody>
      </p:sp>
      <p:sp>
        <p:nvSpPr>
          <p:cNvPr id="60" name="AutoShape 60"/>
          <p:cNvSpPr txBox="1"/>
          <p:nvPr/>
        </p:nvSpPr>
        <p:spPr>
          <a:xfrm>
            <a:off x="3721100" y="48133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数字主权理论</a:t>
            </a:r>
            <a:endParaRPr lang="en-US" sz="1100"/>
          </a:p>
        </p:txBody>
      </p:sp>
      <p:sp>
        <p:nvSpPr>
          <p:cNvPr id="61" name="AutoShape 61"/>
          <p:cNvSpPr txBox="1"/>
          <p:nvPr/>
        </p:nvSpPr>
        <p:spPr>
          <a:xfrm>
            <a:off x="3721100" y="50419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课程团队｜理论框架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6172200" y="45339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3" name="AutoShape 63"/>
          <p:cNvSpPr txBox="1"/>
          <p:nvPr/>
        </p:nvSpPr>
        <p:spPr>
          <a:xfrm>
            <a:off x="6299200" y="46101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KJ15</a:t>
            </a:r>
            <a:endParaRPr lang="en-US" sz="1100"/>
          </a:p>
        </p:txBody>
      </p:sp>
      <p:sp>
        <p:nvSpPr>
          <p:cNvPr id="64" name="AutoShape 64"/>
          <p:cNvSpPr txBox="1"/>
          <p:nvPr/>
        </p:nvSpPr>
        <p:spPr>
          <a:xfrm>
            <a:off x="6299200" y="48133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平台责任比较</a:t>
            </a:r>
            <a:endParaRPr lang="en-US" sz="1100"/>
          </a:p>
        </p:txBody>
      </p:sp>
      <p:sp>
        <p:nvSpPr>
          <p:cNvPr id="65" name="AutoShape 65"/>
          <p:cNvSpPr txBox="1"/>
          <p:nvPr/>
        </p:nvSpPr>
        <p:spPr>
          <a:xfrm>
            <a:off x="6299200" y="50419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课程团队｜中外对比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8750300" y="4533900"/>
            <a:ext cx="2425700" cy="990600"/>
          </a:xfrm>
          <a:prstGeom prst="roundRect">
            <a:avLst>
              <a:gd name="adj" fmla="val 5128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7" name="AutoShape 67"/>
          <p:cNvSpPr txBox="1"/>
          <p:nvPr/>
        </p:nvSpPr>
        <p:spPr>
          <a:xfrm>
            <a:off x="8877300" y="4610100"/>
            <a:ext cx="2222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KJ16</a:t>
            </a:r>
            <a:endParaRPr lang="en-US" sz="1100"/>
          </a:p>
        </p:txBody>
      </p:sp>
      <p:sp>
        <p:nvSpPr>
          <p:cNvPr id="68" name="AutoShape 68"/>
          <p:cNvSpPr txBox="1"/>
          <p:nvPr/>
        </p:nvSpPr>
        <p:spPr>
          <a:xfrm>
            <a:off x="8877300" y="4813300"/>
            <a:ext cx="2222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国际规则比较</a:t>
            </a:r>
            <a:endParaRPr lang="en-US" sz="1100"/>
          </a:p>
        </p:txBody>
      </p:sp>
      <p:sp>
        <p:nvSpPr>
          <p:cNvPr id="69" name="AutoShape 69"/>
          <p:cNvSpPr txBox="1"/>
          <p:nvPr/>
        </p:nvSpPr>
        <p:spPr>
          <a:xfrm>
            <a:off x="8877300" y="5041900"/>
            <a:ext cx="2222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课程团队｜规则博弈</a:t>
            </a:r>
            <a:endParaRPr lang="en-US" sz="11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跨境数字贸易智能体 · 基座与子平台架构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0" y="736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子平台聚焦跨境数据合规与贸易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基座平台 · 公共能力底座（统一建设一次）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1981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68400" y="1981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统一身份与权限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企业/学生/律师分级授权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5400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168400" y="2540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模型网关调度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多模型路由/长文档/配额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0988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168400" y="30988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法规专利库服务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法规/专利/案例全文RAG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6576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168400" y="36576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审查流/申报流/流程自动化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2164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168400" y="42164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插件工具框架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国知局/海关/API对接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75200"/>
            <a:ext cx="4699000" cy="482600"/>
          </a:xfrm>
          <a:prstGeom prst="roundRect">
            <a:avLst>
              <a:gd name="adj" fmla="val 1052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168400" y="47752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专业合规复核</a:t>
            </a: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律师/代理所复核/留痕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71822">
            <a:off x="5130800" y="2393976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cxnSp>
        <p:nvCxnSpPr>
          <p:cNvPr id="21" name="Connector 21"/>
          <p:cNvCxnSpPr/>
          <p:nvPr/>
        </p:nvCxnSpPr>
        <p:spPr>
          <a:xfrm rot="-5428177">
            <a:off x="5130800" y="4425924"/>
            <a:ext cx="154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dash"/>
            <a:round/>
            <a:headEnd type="none" w="med" len="med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6477000" y="1397000"/>
            <a:ext cx="4699000" cy="457200"/>
          </a:xfrm>
          <a:prstGeom prst="roundRect">
            <a:avLst>
              <a:gd name="adj" fmla="val 11107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6604000" y="1397000"/>
            <a:ext cx="444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跨境子平台 · 30 个智能体（跨境数据流动）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19812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629400" y="1981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合规审查线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KJ06-09｜体检/隐私政策/算法评估/DEPA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477000" y="26924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629400" y="2692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跨境流动线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KJ01-05｜数据识别/出境路径/GDPR/信托/评估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4036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629400" y="340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争议解决线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KJ11-12｜诉讼状稿/天价罚单案例库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477000" y="41148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629400" y="4114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国际规制线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KJ13-16｜全球南方/数字主权/平台责任比较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26000"/>
            <a:ext cx="4699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629400" y="4826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数字贸易线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KJ10｜执法协作/贸易规则对接</a:t>
            </a:r>
          </a:p>
        </p:txBody>
      </p:sp>
      <p:sp>
        <p:nvSpPr>
          <p:cNvPr id="34" name="AutoShape 34"/>
          <p:cNvSpPr/>
          <p:nvPr/>
        </p:nvSpPr>
        <p:spPr>
          <a:xfrm>
            <a:off x="1016000" y="5715000"/>
            <a:ext cx="10160000" cy="355600"/>
          </a:xfrm>
          <a:prstGeom prst="roundRect">
            <a:avLst>
              <a:gd name="adj" fmla="val 1428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143000" y="5715000"/>
            <a:ext cx="990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分工原则：基座统一跨境数据合规框架，数据治理中国际部分与涉外法治全部归集于此，专注数据出境与数字贸易</a:t>
            </a:r>
            <a:endParaRPr lang="en-US" sz="11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508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533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跨境数字贸易智能体 · 领域平台首页 UI 原型示意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98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8891" b="8891"/>
          <a:stretch>
            <a:fillRect/>
          </a:stretch>
        </p:blipFill>
        <p:spPr>
          <a:xfrm>
            <a:off x="1397000" y="1168400"/>
            <a:ext cx="9398000" cy="5283200"/>
          </a:xfrm>
          <a:prstGeom prst="roundRect">
            <a:avLst>
              <a:gd name="adj" fmla="val 1186"/>
            </a:avLst>
          </a:prstGeom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1016000" y="65278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原型示意｜基座提供统一导航、登录、权限、全局搜索；子平台仅实现领域业务与智能体入口卡片</a:t>
            </a:r>
            <a:endParaRPr lang="en-US" sz="11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397000"/>
            <a:ext cx="12192000" cy="2159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团队执行规划</a:t>
            </a:r>
            <a:endParaRPr lang="en-US" sz="11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317500"/>
            <a:ext cx="101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317500"/>
            <a:ext cx="889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智能体研发经费标准与敏捷迭代机制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762000"/>
            <a:ext cx="11176000" cy="508000"/>
          </a:xfrm>
          <a:prstGeom prst="roundRect">
            <a:avLst>
              <a:gd name="adj" fmla="val 1500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508000" y="76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 smtClean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四步走敏捷开发 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· 快速迭代持续演化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08000" y="1460500"/>
            <a:ext cx="2603500" cy="2476500"/>
          </a:xfrm>
          <a:prstGeom prst="roundRect">
            <a:avLst>
              <a:gd name="adj" fmla="val 410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460500"/>
            <a:ext cx="2603500" cy="457200"/>
          </a:xfrm>
          <a:prstGeom prst="roundRect">
            <a:avLst>
              <a:gd name="adj" fmla="val 22220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08000" y="14605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 · 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35000" y="23876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需求说明书 v1.0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交互原型设计稿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知识边界定义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对接：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设计负责人确认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365500" y="1460500"/>
            <a:ext cx="2603500" cy="2476500"/>
          </a:xfrm>
          <a:prstGeom prst="roundRect">
            <a:avLst>
              <a:gd name="adj" fmla="val 410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65500" y="1460500"/>
            <a:ext cx="2603500" cy="457200"/>
          </a:xfrm>
          <a:prstGeom prst="roundRect">
            <a:avLst>
              <a:gd name="adj" fmla="val 22220"/>
            </a:avLst>
          </a:prstGeom>
          <a:solidFill>
            <a:srgbClr val="10B981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365500" y="14605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 · 开发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492500" y="23876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可运行的智能体 v0.1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知识库初版灌入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提示词工程文档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对接：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技术负责人确认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460500"/>
            <a:ext cx="2603500" cy="2476500"/>
          </a:xfrm>
          <a:prstGeom prst="roundRect">
            <a:avLst>
              <a:gd name="adj" fmla="val 410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460500"/>
            <a:ext cx="2603500" cy="457200"/>
          </a:xfrm>
          <a:prstGeom prst="roundRect">
            <a:avLst>
              <a:gd name="adj" fmla="val 22220"/>
            </a:avLst>
          </a:prstGeom>
          <a:solidFill>
            <a:srgbClr val="F59E0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223000" y="14605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 · 测试上线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350000" y="23876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测试报告与Bug清单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正式版 v1.0 上线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用户使用手册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对接：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测试负责人确认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080500" y="1460500"/>
            <a:ext cx="2603500" cy="2476500"/>
          </a:xfrm>
          <a:prstGeom prst="roundRect">
            <a:avLst>
              <a:gd name="adj" fmla="val 410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1460500"/>
            <a:ext cx="2603500" cy="457200"/>
          </a:xfrm>
          <a:prstGeom prst="roundRect">
            <a:avLst>
              <a:gd name="adj" fmla="val 22220"/>
            </a:avLst>
          </a:prstGeom>
          <a:solidFill>
            <a:srgbClr val="EF4444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9080500" y="14605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第四步 · 运营迭代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9207500" y="23876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用户反馈周报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版本迭代记录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案例与论文素材库</a:t>
            </a:r>
          </a:p>
          <a:p>
            <a:pPr marL="0" indent="0" algn="l">
              <a:lnSpc>
                <a:spcPct val="133333"/>
              </a:lnSpc>
            </a:pPr>
            <a:r>
              <a:rPr lang="en-US" sz="9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对接：</a:t>
            </a:r>
            <a:r>
              <a:rPr lang="en-US" sz="9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体验负责人确认</a:t>
            </a:r>
          </a:p>
        </p:txBody>
      </p:sp>
      <p:sp>
        <p:nvSpPr>
          <p:cNvPr id="26" name="AutoShape 26"/>
          <p:cNvSpPr/>
          <p:nvPr/>
        </p:nvSpPr>
        <p:spPr>
          <a:xfrm>
            <a:off x="508000" y="4000500"/>
            <a:ext cx="11176000" cy="1587500"/>
          </a:xfrm>
          <a:prstGeom prst="roundRect">
            <a:avLst>
              <a:gd name="adj" fmla="val 6400"/>
            </a:avLst>
          </a:prstGeom>
          <a:solidFill>
            <a:srgbClr val="1E40AF">
              <a:alpha val="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98500" y="41275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季度敏捷迭代法 · 每周一次例会 · 每个团队节奏一致 · 设计1个月 → 开发1个月 → 测试上线1个月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698500" y="4445000"/>
            <a:ext cx="1092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每个智能体对应一位负责人 + 一位开发同学，全程跟踪从设计到运营。四周一个完整程序：第1周需求设计、第2-3周开发迭代、第4周测试上线，不攒大块、不延期。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0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产出沉淀：</a:t>
            </a: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每个智能体的需求文档、测试报告、用户案例、迭代记录自动归档为纵向课题申报素材（研究方法创新）与横向项目案例库（可复制交付方案）。</a:t>
            </a:r>
          </a:p>
        </p:txBody>
      </p:sp>
      <p:sp>
        <p:nvSpPr>
          <p:cNvPr id="29" name="AutoShape 29"/>
          <p:cNvSpPr txBox="1"/>
          <p:nvPr/>
        </p:nvSpPr>
        <p:spPr>
          <a:xfrm>
            <a:off x="508000" y="5715000"/>
            <a:ext cx="1117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经费标准：2000 元 / 智能体 · 按里程碑节点分四笔发放 · 成果物归档后拨付</a:t>
            </a:r>
            <a:endParaRPr lang="en-US" sz="11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会议总历 · 一周安排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636000" y="736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★ 跨大类统筹会议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13970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19200" y="15240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周日 14:00–16:00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667000" y="1524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★ 项目会议 纵向何梦婷 / 横向王福新 / 结题程凡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426200" y="15240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周日 16:00–18:00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874000" y="1524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★ 机构会议 四个机构轮值，每机构半小时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21844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219200" y="23114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周日 19:00–21:00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667000" y="2311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知产·法律团队会 召集：</a:t>
            </a:r>
            <a:r>
              <a:rPr lang="en-US" sz="1100" b="0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王健宇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1844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426200" y="23114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周日 21:00–23:00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874000" y="23114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国际知产·跨境团队会 召集：</a:t>
            </a:r>
            <a:r>
              <a:rPr lang="en-US" sz="1100" b="0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杨惠羽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29718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219200" y="3098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周一 09:00–11:00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2667000" y="30988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基座开发会 召集：李立秋（基座全体成员）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29718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6426200" y="30988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周一 19:00–21:00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7874000" y="30988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科创团队会 召集：杨锴、张旭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37592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219200" y="38862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周一 21:00–23:00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2667000" y="38862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文化团队会 召集：慕锦沛、梁郑英格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37592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6426200" y="38862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周二 09:00–11:00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7874000" y="38862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基座设计会 召集：张运良（张运良、尹壮）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16000" y="45466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219200" y="46736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周二 19:00–23:00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2667000" y="4673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教育团队会 召集：桂安雅、龚欣仪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5466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6426200" y="46736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周三 19:00–23:00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7874000" y="4673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★ 技术研发例会 主持：蒋云龙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16000" y="53340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1219200" y="54610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周四 19:00–23:00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2667000" y="5461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★ 设计技术研讨会 主持：桂安雅、龚欣仪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223000" y="5334000"/>
            <a:ext cx="4953000" cy="660400"/>
          </a:xfrm>
          <a:prstGeom prst="roundRect">
            <a:avLst>
              <a:gd name="adj" fmla="val 769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6426200" y="5461000"/>
            <a:ext cx="139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05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周五 18:30–23:00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7874000" y="5461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大团队学术会 召集：李晓倩、周也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18 / 23</a:t>
            </a:r>
            <a:endParaRPr lang="en-US" sz="11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智能体研发十步流程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524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93800" y="1676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93800" y="2184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93800" y="2540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深入调研业务场景，明确核心目标与用户真实需求。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111500" y="1524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289300" y="1676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289300" y="2184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方案设计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289300" y="2540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规划技术架构，划分功能模块，制定实施路径。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1524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5384800" y="1676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5384800" y="2184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知识库建设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384800" y="2540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采集、清洗领域知识，构建知识图谱与数据支撑。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02500" y="1524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480300" y="1676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480300" y="2184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流程设计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480300" y="2540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优化提示词工程，设计交互逻辑与业务工作流。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98000" y="1524000"/>
            <a:ext cx="1778000" cy="1905000"/>
          </a:xfrm>
          <a:prstGeom prst="roundRect">
            <a:avLst>
              <a:gd name="adj" fmla="val 285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9575800" y="1676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9575800" y="2184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UI 交互设计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9575800" y="2540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打造直观界面，优化操作路径，提升流畅度。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3683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2563E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193800" y="3835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1193800" y="4343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系统开发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1193800" y="4699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完成核心功能编码与系统集成，实现业务能力。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111500" y="3683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3289300" y="3835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3289300" y="4343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测试优化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3289300" y="4699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功能、性能与安全测试，迭代优化模型效果。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207000" y="3683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5384800" y="3835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5384800" y="4343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场景试用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5384800" y="4699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真实业务场景部署试用，收集反馈并调优。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302500" y="3683000"/>
            <a:ext cx="1905000" cy="1905000"/>
          </a:xfrm>
          <a:prstGeom prst="roundRect">
            <a:avLst>
              <a:gd name="adj" fmla="val 266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7480300" y="3835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7480300" y="4343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运营维护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7480300" y="4699000"/>
            <a:ext cx="158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监控运行状态，提供技术支持，定期迭代升级。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398000" y="3683000"/>
            <a:ext cx="1778000" cy="1905000"/>
          </a:xfrm>
          <a:prstGeom prst="roundRect">
            <a:avLst>
              <a:gd name="adj" fmla="val 285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2" name="AutoShape 42"/>
          <p:cNvSpPr txBox="1"/>
          <p:nvPr/>
        </p:nvSpPr>
        <p:spPr>
          <a:xfrm>
            <a:off x="9575800" y="3835400"/>
            <a:ext cx="76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  <p:sp>
        <p:nvSpPr>
          <p:cNvPr id="43" name="AutoShape 43"/>
          <p:cNvSpPr txBox="1"/>
          <p:nvPr/>
        </p:nvSpPr>
        <p:spPr>
          <a:xfrm>
            <a:off x="9575800" y="43434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成果总结</a:t>
            </a:r>
            <a:endParaRPr lang="en-US" sz="1100"/>
          </a:p>
        </p:txBody>
      </p:sp>
      <p:sp>
        <p:nvSpPr>
          <p:cNvPr id="44" name="AutoShape 44"/>
          <p:cNvSpPr txBox="1"/>
          <p:nvPr/>
        </p:nvSpPr>
        <p:spPr>
          <a:xfrm>
            <a:off x="9575800" y="4699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沉淀文档与案例，形成可复用方法论。</a:t>
            </a:r>
            <a:endParaRPr lang="en-US" sz="1100"/>
          </a:p>
        </p:txBody>
      </p:sp>
      <p:sp>
        <p:nvSpPr>
          <p:cNvPr id="45" name="AutoShape 45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19 / 23</a:t>
            </a:r>
            <a:endParaRPr lang="en-US" sz="11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阶段成果要求 · 九项交付物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524000"/>
            <a:ext cx="3238500" cy="1397000"/>
          </a:xfrm>
          <a:prstGeom prst="roundRect">
            <a:avLst>
              <a:gd name="adj" fmla="val 363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19200" y="16764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19200" y="2057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智能体项目登记表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219200" y="23622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立项基础档案，明确目标、范围与权责边界。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524000"/>
            <a:ext cx="3238500" cy="1397000"/>
          </a:xfrm>
          <a:prstGeom prst="roundRect">
            <a:avLst>
              <a:gd name="adj" fmla="val 363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673600" y="16764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73600" y="2057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用户需求分析报告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673600" y="23622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解析真实需求，界定功能边界与核心价值。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937500" y="1524000"/>
            <a:ext cx="3238500" cy="1397000"/>
          </a:xfrm>
          <a:prstGeom prst="roundRect">
            <a:avLst>
              <a:gd name="adj" fmla="val 363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140700" y="16764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140700" y="2057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产品功能说明书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40700" y="23622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定义功能模块、交互逻辑与技术指标。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3111500"/>
            <a:ext cx="3238500" cy="1397000"/>
          </a:xfrm>
          <a:prstGeom prst="roundRect">
            <a:avLst>
              <a:gd name="adj" fmla="val 363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219200" y="32639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219200" y="3644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知识库目录及资料清单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219200" y="39497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梳理领域知识资产，构建核心知识底座。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70400" y="3111500"/>
            <a:ext cx="3238500" cy="1397000"/>
          </a:xfrm>
          <a:prstGeom prst="roundRect">
            <a:avLst>
              <a:gd name="adj" fmla="val 363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4673600" y="32639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4673600" y="3644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提示词和工作流设计方案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4673600" y="39497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提示词体系与业务流转自动化流程。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37500" y="3111500"/>
            <a:ext cx="3238500" cy="1397000"/>
          </a:xfrm>
          <a:prstGeom prst="roundRect">
            <a:avLst>
              <a:gd name="adj" fmla="val 363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8140700" y="32639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8140700" y="36449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UI 及交互设计稿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8140700" y="3949700"/>
            <a:ext cx="285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界面布局与交互逻辑，优化操作路径。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4699000"/>
            <a:ext cx="3238500" cy="1143000"/>
          </a:xfrm>
          <a:prstGeom prst="roundRect">
            <a:avLst>
              <a:gd name="adj" fmla="val 4442"/>
            </a:avLst>
          </a:prstGeom>
          <a:solidFill>
            <a:srgbClr val="DBEAF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1219200" y="48514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219200" y="5232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智能体可运行版本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1219200" y="5537200"/>
            <a:ext cx="285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完整功能可部署版本，闭环验证。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470400" y="4699000"/>
            <a:ext cx="3238500" cy="1143000"/>
          </a:xfrm>
          <a:prstGeom prst="roundRect">
            <a:avLst>
              <a:gd name="adj" fmla="val 444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4673600" y="48514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4673600" y="5232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测试记录及问题清单</a:t>
            </a:r>
            <a:endParaRPr lang="en-US" sz="1100"/>
          </a:p>
        </p:txBody>
      </p:sp>
      <p:sp>
        <p:nvSpPr>
          <p:cNvPr id="36" name="AutoShape 36"/>
          <p:cNvSpPr txBox="1"/>
          <p:nvPr/>
        </p:nvSpPr>
        <p:spPr>
          <a:xfrm>
            <a:off x="4673600" y="5537200"/>
            <a:ext cx="285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全流程测试数据与缺陷反馈。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937500" y="4699000"/>
            <a:ext cx="3238500" cy="1143000"/>
          </a:xfrm>
          <a:prstGeom prst="roundRect">
            <a:avLst>
              <a:gd name="adj" fmla="val 4442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8" name="AutoShape 38"/>
          <p:cNvSpPr txBox="1"/>
          <p:nvPr/>
        </p:nvSpPr>
        <p:spPr>
          <a:xfrm>
            <a:off x="8140700" y="48514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id="39" name="AutoShape 39"/>
          <p:cNvSpPr txBox="1"/>
          <p:nvPr/>
        </p:nvSpPr>
        <p:spPr>
          <a:xfrm>
            <a:off x="8140700" y="5232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用户使用说明与运营方案</a:t>
            </a:r>
            <a:endParaRPr lang="en-US" sz="1100"/>
          </a:p>
        </p:txBody>
      </p:sp>
      <p:sp>
        <p:nvSpPr>
          <p:cNvPr id="40" name="AutoShape 40"/>
          <p:cNvSpPr txBox="1"/>
          <p:nvPr/>
        </p:nvSpPr>
        <p:spPr>
          <a:xfrm>
            <a:off x="8140700" y="5537200"/>
            <a:ext cx="2857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操作指南 + 迭代优化与运营策略。</a:t>
            </a:r>
            <a:endParaRPr lang="en-US" sz="1100"/>
          </a:p>
        </p:txBody>
      </p:sp>
      <p:sp>
        <p:nvSpPr>
          <p:cNvPr id="41" name="AutoShape 41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20 / 23</a:t>
            </a:r>
            <a:endParaRPr lang="en-US" sz="11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双角色职责边界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587500"/>
            <a:ext cx="4953000" cy="4191000"/>
          </a:xfrm>
          <a:prstGeom prst="roundRect">
            <a:avLst>
              <a:gd name="adj" fmla="val 121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1841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联合主持人职责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270009" y="2279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270000" y="2476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714500" y="2476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人员统筹与分工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714500" y="2794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核对研发人员配置，明确项目负责人及成员的具体任务边界与权责。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270000" y="3365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714500" y="3365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进度规划与督促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714500" y="3683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制定研发进度表，定期跟进关键节点，确保成员按时提交阶段成果。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270000" y="4254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714500" y="4254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沟通协同与复盘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714500" y="457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组织定期例会同步进展，协调跨成员协作中的问题与资源冲突。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270000" y="5143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714500" y="5143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问题汇总与指导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714500" y="54610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收集难点与风险点，提交导师指导，推动问题闭环。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587500"/>
            <a:ext cx="4953000" cy="4191000"/>
          </a:xfrm>
          <a:prstGeom prst="roundRect">
            <a:avLst>
              <a:gd name="adj" fmla="val 1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477000" y="1841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项目负责人职责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822">
            <a:off x="6477009" y="2279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6477000" y="2476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6921500" y="2476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场景与需求定位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6921500" y="2794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明确智能体服务对象与核心应用场景，梳理功能清单与开发优先级。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477000" y="3365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921500" y="3365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方案与知识库建设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6921500" y="3683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设计提示词体系与工作流逻辑，组织资料收集，搭建专属知识库。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6477000" y="4254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6921500" y="4254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研发执行与协调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6921500" y="457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统筹研发资源分配，协调成员分工，把控技术实现细节与进度。</a:t>
            </a:r>
            <a:endParaRPr lang="en-US" sz="1100"/>
          </a:p>
        </p:txBody>
      </p:sp>
      <p:sp>
        <p:nvSpPr>
          <p:cNvPr id="32" name="AutoShape 32"/>
          <p:cNvSpPr txBox="1"/>
          <p:nvPr/>
        </p:nvSpPr>
        <p:spPr>
          <a:xfrm>
            <a:off x="6477000" y="51435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3" name="AutoShape 33"/>
          <p:cNvSpPr txBox="1"/>
          <p:nvPr/>
        </p:nvSpPr>
        <p:spPr>
          <a:xfrm>
            <a:off x="6921500" y="51435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测试验收与交付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6921500" y="5461000"/>
            <a:ext cx="393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组织功能测试与 Bug 整改，整理并提交阶段成果与总结。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21 / 23</a:t>
            </a:r>
            <a:endParaRPr lang="en-US" sz="11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635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660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附则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524000"/>
            <a:ext cx="4953000" cy="1333500"/>
          </a:xfrm>
          <a:prstGeom prst="roundRect">
            <a:avLst>
              <a:gd name="adj" fmla="val 380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44600" y="1701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76400" y="1701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文件效力界定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676400" y="2032000"/>
            <a:ext cx="406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本文件为本学期智能体集群研发工作的基础总览文件，是项目执行、资源调配与进度管理的核心依据。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4953000" cy="1333500"/>
          </a:xfrm>
          <a:prstGeom prst="roundRect">
            <a:avLst>
              <a:gd name="adj" fmla="val 380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451600" y="1701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883400" y="1701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动态调整机制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883400" y="2032000"/>
            <a:ext cx="406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智能体名称、研发团队成员、项目主持人及会议安排若有变动，需及时同步更新并通知全员。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048000"/>
            <a:ext cx="4953000" cy="1333500"/>
          </a:xfrm>
          <a:prstGeom prst="roundRect">
            <a:avLst>
              <a:gd name="adj" fmla="val 380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244600" y="3225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676400" y="3225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专业合规审核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676400" y="3556000"/>
            <a:ext cx="406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涉及健康医疗、法律合规、知识产权及跨境数据等领域的智能体，须通过专业机构审核，落实数据安全保护。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048000"/>
            <a:ext cx="4953000" cy="1333500"/>
          </a:xfrm>
          <a:prstGeom prst="roundRect">
            <a:avLst>
              <a:gd name="adj" fmla="val 380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451600" y="3225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883400" y="3225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未尽事宜协商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883400" y="3556000"/>
            <a:ext cx="406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未明确事项由项目统筹人员、各方向联合主持人及指导导师共同协商确定，形成补充说明文件发布。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572000"/>
            <a:ext cx="4953000" cy="1333500"/>
          </a:xfrm>
          <a:prstGeom prst="roundRect">
            <a:avLst>
              <a:gd name="adj" fmla="val 380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244600" y="4749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676400" y="4749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科研教学风险提示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676400" y="5080000"/>
            <a:ext cx="406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中非、数字经贸相关智能体仅限教学科研场景使用，不构成涉外业务的确定性实操意见。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572000"/>
            <a:ext cx="4953000" cy="1333500"/>
          </a:xfrm>
          <a:prstGeom prst="roundRect">
            <a:avLst>
              <a:gd name="adj" fmla="val 380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451600" y="4749800"/>
            <a:ext cx="38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6883400" y="47498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业务场景聚焦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6883400" y="5080000"/>
            <a:ext cx="406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企业实务类集中归入专属板块，其余方向聚焦高校科研创新、课堂教学、公益科普及仿真实训。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22 / 23</a:t>
            </a:r>
            <a:endParaRPr lang="en-US" sz="11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57289">
            <a:off x="1016053" y="2533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AutoShape 3"/>
          <p:cNvSpPr txBox="1"/>
          <p:nvPr/>
        </p:nvSpPr>
        <p:spPr>
          <a:xfrm>
            <a:off x="1016000" y="2794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4064000"/>
            <a:ext cx="889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欢迎提问与深入探讨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55880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2026-2027年团队规划及第一次例会　·　2026.10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0" y="5588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六大板块 · 协同推进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0" y="635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23 / 23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7260</Words>
  <Application>Microsoft Office PowerPoint</Application>
  <PresentationFormat>宽屏</PresentationFormat>
  <Paragraphs>2206</Paragraphs>
  <Slides>81</Slides>
  <Notes>81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81</vt:i4>
      </vt:variant>
    </vt:vector>
  </HeadingPairs>
  <TitlesOfParts>
    <vt:vector size="91" baseType="lpstr">
      <vt:lpstr>Noto Sans SC</vt:lpstr>
      <vt:lpstr>Songti SC</vt:lpstr>
      <vt:lpstr>Arial</vt:lpstr>
      <vt:lpstr>Office 主题​​</vt:lpstr>
      <vt:lpstr>Office 主题​​</vt:lpstr>
      <vt:lpstr>默认主题</vt:lpstr>
      <vt:lpstr>Office 主题​​</vt:lpstr>
      <vt:lpstr>Office 主题​​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作者</cp:lastModifiedBy>
  <cp:revision>3</cp:revision>
  <dcterms:modified xsi:type="dcterms:W3CDTF">2026-10-09T10:12:51Z</dcterms:modified>
</cp:coreProperties>
</file>